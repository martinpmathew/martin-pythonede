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A2471-F81F-4C96-8396-CA4645023944}" v="83" dt="2025-09-10T12:31:30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9929-D68C-C1F1-6191-A9019116A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E5E28-627E-2FD2-4287-75D28AC51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5588-4F37-0C7D-9409-A5433063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4110-1A46-A558-16FA-23C94936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0555D-5D3A-9FE6-5A76-F6B05E429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7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76469-E0EF-CD5A-9DAF-BFB38016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430B4-D45A-70ED-EA13-8F6A79CDB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A3CD7-1528-F002-7D5F-23230021B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13147-B468-677B-EF2E-E596BA4D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7FD41-312E-78FC-0D70-A9AC9E57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94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FA39-C412-37C4-6529-7A1CFA5F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0CBFB-E43D-3D40-C115-D59250C29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23246-C6B6-FAF4-1446-57FCB6C8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C7FA9-69E7-F2DA-E971-B0CC9DB0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41308-E1CD-6FF4-BDDF-9A57BECA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41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2E52-0CDE-18AB-2BFF-1BAA682F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91DFC-32D9-88EA-45C1-B687943A6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8FD13-4E0D-45C9-5BE5-C0ED7336B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DA98E-E941-4701-4B5E-0F2C33A06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5D06E-3233-EB9F-2997-2871D021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FC4DC-B004-31A1-3E4F-2A8FB8D2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8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D1A6-FE3D-8F30-DC36-95FB7D88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85F2B-FB9D-9D33-1F6F-FC84F1474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F2427-A9A8-763E-8469-4ACEE7EE5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1D621-577D-3FFC-5E5F-002637CA5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3B9F7-6924-8A61-0CC5-6FB71206D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9D7C9-0272-F45F-2302-B63ED284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F1407A-5223-1C59-3ED3-77DBF9A5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6BE4C-2552-934A-02C8-D3828CAC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4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061E-B29A-F4F0-1E16-6782A362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359C1-2631-31BC-79B1-0DFB956A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BBC9A-AB55-9761-F0C1-323D796F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BC262-2EB7-C8B2-E3A2-7803422E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85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D6E51-2D0D-67B7-BD5D-8E5F1B4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06408-E87B-BBC9-3376-78FEC897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F5ADE-CAB6-54B1-3425-5A262849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5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215F-B014-5ED4-D3F6-DC4D3105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40B6-772C-633D-9841-FDE1E0BF5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634C8-36EE-F1E1-C924-8E66C63B3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7305A-8D3A-8DC2-9D30-5F6E3276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34FE-5437-538F-0F81-066AD5B7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AEDCF-41A8-A5D1-3A3D-EC52B2B2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13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4407-015C-DD6F-75C0-690D7898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544A1-DBEF-2BE5-597D-25BC32649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C4B17-5D75-F3F0-38C0-B318A28F8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D2409-74B7-8F54-7F03-980179AE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B58F0-482C-0168-1156-02204743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4778-F310-5156-7C07-5DC0F666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7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F098-43B6-FDFC-8DB8-235E1212D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3B3BC-33F4-8F7A-C6B4-9085439E1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194A1-DFE2-750A-F6B0-DDB9807D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4B02E-627D-7DF8-ABF0-2C8652E83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76A18-6D12-D995-67BC-C86A5018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44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9DC95-D48A-5964-AF9D-00BDDF432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464C1-10D0-BF7B-1290-DDCA9FDC4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0D967-3A25-0C8D-E517-0FA600C56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C757A-C9E9-0DAB-3B3F-F1AF81E8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8A23C-0C33-2666-6CC9-46D997D1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20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B38ED8-24AF-A49C-3528-5FBC873E0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7CF5F-CCE5-85D2-8E63-69069823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4BEDD-C366-2E2F-31DB-B5FF9204C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D85C6-836D-4F3E-8683-48D2F385D656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DA905-C048-0EA8-E8D6-7DD18DE7C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4EEF2-808D-03A6-E530-8DDB7E9F2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2AA0F-FD10-46B4-99DD-83D3EA04B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64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323A177-5264-7213-5ED3-A53DD5D4BEB2}"/>
              </a:ext>
            </a:extLst>
          </p:cNvPr>
          <p:cNvSpPr/>
          <p:nvPr/>
        </p:nvSpPr>
        <p:spPr>
          <a:xfrm>
            <a:off x="5324671" y="3107093"/>
            <a:ext cx="2481943" cy="17914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E669DC-8B09-01DA-82D2-3840CEC1C8CE}"/>
              </a:ext>
            </a:extLst>
          </p:cNvPr>
          <p:cNvSpPr/>
          <p:nvPr/>
        </p:nvSpPr>
        <p:spPr>
          <a:xfrm>
            <a:off x="1903445" y="3107094"/>
            <a:ext cx="2481943" cy="17914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04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22E5-876C-D84A-D2C6-989FECD8B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PCPP1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9C8EF-41ED-508A-A90D-610C2AC94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91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8009-FA90-65DB-9743-BFF5B124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0FE08-C599-644C-9005-7A561ECA4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OOPS foundation</a:t>
            </a:r>
          </a:p>
          <a:p>
            <a:r>
              <a:rPr lang="en-US" dirty="0"/>
              <a:t>OOPS Advanced</a:t>
            </a:r>
          </a:p>
          <a:p>
            <a:r>
              <a:rPr lang="en-US" dirty="0"/>
              <a:t>Exceptions</a:t>
            </a:r>
          </a:p>
          <a:p>
            <a:r>
              <a:rPr lang="en-US" dirty="0"/>
              <a:t>Object Persistence</a:t>
            </a:r>
          </a:p>
          <a:p>
            <a:r>
              <a:rPr lang="en-US" dirty="0" err="1"/>
              <a:t>MetaProgrammig</a:t>
            </a:r>
            <a:endParaRPr lang="en-US" dirty="0"/>
          </a:p>
          <a:p>
            <a:r>
              <a:rPr lang="en-US" dirty="0"/>
              <a:t>Assessment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26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3433-DE36-2B3A-86B8-A5D555FD1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8C453-A005-CAD3-A87B-533A178AD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3F7280-9E54-589B-463D-13096989C074}"/>
              </a:ext>
            </a:extLst>
          </p:cNvPr>
          <p:cNvSpPr/>
          <p:nvPr/>
        </p:nvSpPr>
        <p:spPr>
          <a:xfrm>
            <a:off x="7050835" y="3865982"/>
            <a:ext cx="3595394" cy="19936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Exception vars:</a:t>
            </a:r>
          </a:p>
          <a:p>
            <a:pPr algn="ctr"/>
            <a:r>
              <a:rPr lang="en-US" dirty="0" err="1"/>
              <a:t>e.args</a:t>
            </a:r>
            <a:endParaRPr lang="en-US" dirty="0"/>
          </a:p>
          <a:p>
            <a:pPr algn="ctr"/>
            <a:r>
              <a:rPr lang="en-IN" dirty="0" err="1"/>
              <a:t>e.path</a:t>
            </a:r>
            <a:endParaRPr lang="en-IN" dirty="0"/>
          </a:p>
          <a:p>
            <a:pPr algn="ctr"/>
            <a:r>
              <a:rPr lang="en-IN" dirty="0"/>
              <a:t>e.name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38564A-AF8F-0469-C7E1-2E94F3CE7387}"/>
              </a:ext>
            </a:extLst>
          </p:cNvPr>
          <p:cNvSpPr/>
          <p:nvPr/>
        </p:nvSpPr>
        <p:spPr>
          <a:xfrm>
            <a:off x="6197860" y="1915886"/>
            <a:ext cx="3935185" cy="858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__context__</a:t>
            </a:r>
          </a:p>
          <a:p>
            <a:pPr algn="ctr"/>
            <a:r>
              <a:rPr lang="en-US" dirty="0"/>
              <a:t>__cause__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5619D7-A3A2-5280-79BD-5EEAA8B49AC6}"/>
              </a:ext>
            </a:extLst>
          </p:cNvPr>
          <p:cNvSpPr/>
          <p:nvPr/>
        </p:nvSpPr>
        <p:spPr>
          <a:xfrm>
            <a:off x="1222310" y="3175518"/>
            <a:ext cx="2500604" cy="858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__traceback__</a:t>
            </a:r>
          </a:p>
          <a:p>
            <a:pPr algn="ctr"/>
            <a:r>
              <a:rPr lang="en-IN" dirty="0"/>
              <a:t>Type: Class traceback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8882B3-B870-6ECC-ACAB-2B9DCEDA397E}"/>
              </a:ext>
            </a:extLst>
          </p:cNvPr>
          <p:cNvSpPr/>
          <p:nvPr/>
        </p:nvSpPr>
        <p:spPr>
          <a:xfrm>
            <a:off x="1443914" y="4760166"/>
            <a:ext cx="2500604" cy="8584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format_tb</a:t>
            </a:r>
            <a:r>
              <a:rPr lang="en-IN" dirty="0"/>
              <a:t>() </a:t>
            </a:r>
            <a:r>
              <a:rPr lang="en-IN" dirty="0" err="1"/>
              <a:t>print_tb</a:t>
            </a:r>
            <a:r>
              <a:rPr lang="en-IN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D41EC4-5E27-7632-DD00-C5BFC593197B}"/>
              </a:ext>
            </a:extLst>
          </p:cNvPr>
          <p:cNvCxnSpPr>
            <a:endCxn id="13" idx="0"/>
          </p:cNvCxnSpPr>
          <p:nvPr/>
        </p:nvCxnSpPr>
        <p:spPr>
          <a:xfrm flipH="1">
            <a:off x="2694216" y="4033934"/>
            <a:ext cx="104968" cy="726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12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E0A7-1734-6CC7-84F6-A4E8B48A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Persistence</a:t>
            </a:r>
            <a:endParaRPr lang="en-IN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7BD8A31-F0FC-746F-0334-2D8BC25C2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4799" y="743351"/>
            <a:ext cx="1469192" cy="1633801"/>
          </a:xfr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C1181E6-FD5F-93AE-AED4-2517A798CB82}"/>
              </a:ext>
            </a:extLst>
          </p:cNvPr>
          <p:cNvSpPr/>
          <p:nvPr/>
        </p:nvSpPr>
        <p:spPr>
          <a:xfrm>
            <a:off x="1791478" y="2733869"/>
            <a:ext cx="1716832" cy="5784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id()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7AF08B-CC71-EDA1-DFE7-048A51E8FF4D}"/>
              </a:ext>
            </a:extLst>
          </p:cNvPr>
          <p:cNvSpPr/>
          <p:nvPr/>
        </p:nvSpPr>
        <p:spPr>
          <a:xfrm>
            <a:off x="2566139" y="1855561"/>
            <a:ext cx="3937518" cy="5784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 function returns the 'identity' of an object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FDABDC-57FB-E28E-A558-392B005FDD71}"/>
              </a:ext>
            </a:extLst>
          </p:cNvPr>
          <p:cNvSpPr/>
          <p:nvPr/>
        </p:nvSpPr>
        <p:spPr>
          <a:xfrm>
            <a:off x="3201957" y="3642113"/>
            <a:ext cx="1716832" cy="5784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integer 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6615DA-59D5-7EDC-A43A-D7F82511CC80}"/>
              </a:ext>
            </a:extLst>
          </p:cNvPr>
          <p:cNvCxnSpPr>
            <a:cxnSpLocks/>
            <a:stCxn id="4" idx="0"/>
            <a:endCxn id="6" idx="3"/>
          </p:cNvCxnSpPr>
          <p:nvPr/>
        </p:nvCxnSpPr>
        <p:spPr>
          <a:xfrm flipV="1">
            <a:off x="2649894" y="2349340"/>
            <a:ext cx="492881" cy="384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5A8626-5F4A-1340-0559-504479CEAC66}"/>
              </a:ext>
            </a:extLst>
          </p:cNvPr>
          <p:cNvCxnSpPr>
            <a:endCxn id="7" idx="1"/>
          </p:cNvCxnSpPr>
          <p:nvPr/>
        </p:nvCxnSpPr>
        <p:spPr>
          <a:xfrm>
            <a:off x="3051110" y="3312367"/>
            <a:ext cx="402271" cy="414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C079F31-0D55-2AD0-1A1D-30860849F36E}"/>
              </a:ext>
            </a:extLst>
          </p:cNvPr>
          <p:cNvSpPr/>
          <p:nvPr/>
        </p:nvSpPr>
        <p:spPr>
          <a:xfrm>
            <a:off x="5509729" y="3909527"/>
            <a:ext cx="3559626" cy="17226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Str1 == str2</a:t>
            </a:r>
          </a:p>
          <a:p>
            <a:pPr algn="ctr"/>
            <a:r>
              <a:rPr lang="en-IN" sz="1200" dirty="0"/>
              <a:t>Value comparison</a:t>
            </a:r>
          </a:p>
          <a:p>
            <a:pPr algn="ctr"/>
            <a:r>
              <a:rPr lang="en-IN" sz="1200" dirty="0"/>
              <a:t>== &amp; is: True </a:t>
            </a:r>
          </a:p>
          <a:p>
            <a:pPr algn="ctr"/>
            <a:r>
              <a:rPr lang="en-US" sz="1200" dirty="0" err="1"/>
              <a:t>a_string</a:t>
            </a:r>
            <a:r>
              <a:rPr lang="en-US" sz="1200" dirty="0"/>
              <a:t> = ['10', 'days', 'to', 'departure']</a:t>
            </a:r>
          </a:p>
          <a:p>
            <a:pPr algn="ctr"/>
            <a:r>
              <a:rPr lang="en-US" sz="1200" dirty="0" err="1"/>
              <a:t>b_string</a:t>
            </a:r>
            <a:r>
              <a:rPr lang="en-US" sz="1200" dirty="0"/>
              <a:t> = </a:t>
            </a:r>
            <a:r>
              <a:rPr lang="en-US" sz="1200" dirty="0" err="1"/>
              <a:t>a_string</a:t>
            </a:r>
            <a:endParaRPr lang="en-IN" sz="1200" dirty="0"/>
          </a:p>
          <a:p>
            <a:pPr algn="ctr"/>
            <a:r>
              <a:rPr lang="en-IN" sz="1200" dirty="0"/>
              <a:t> 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404BB91-3926-3FC3-4C6F-CDE7EE2E31E2}"/>
              </a:ext>
            </a:extLst>
          </p:cNvPr>
          <p:cNvSpPr/>
          <p:nvPr/>
        </p:nvSpPr>
        <p:spPr>
          <a:xfrm>
            <a:off x="1791477" y="4454291"/>
            <a:ext cx="3816221" cy="1984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Str1 is str2</a:t>
            </a:r>
          </a:p>
          <a:p>
            <a:pPr algn="ctr"/>
            <a:r>
              <a:rPr lang="en-IN" dirty="0"/>
              <a:t>Object id comparison</a:t>
            </a:r>
          </a:p>
          <a:p>
            <a:pPr algn="ctr"/>
            <a:r>
              <a:rPr lang="en-IN" dirty="0"/>
              <a:t>== : True </a:t>
            </a:r>
          </a:p>
          <a:p>
            <a:pPr algn="ctr"/>
            <a:r>
              <a:rPr lang="en-IN" dirty="0"/>
              <a:t>Is: False</a:t>
            </a:r>
          </a:p>
          <a:p>
            <a:pPr algn="ctr"/>
            <a:r>
              <a:rPr lang="en-US" sz="900" dirty="0" err="1"/>
              <a:t>a_string</a:t>
            </a:r>
            <a:r>
              <a:rPr lang="en-US" sz="900" dirty="0"/>
              <a:t> = ['10', 'days', 'to', 'departure']</a:t>
            </a:r>
          </a:p>
          <a:p>
            <a:pPr algn="ctr"/>
            <a:r>
              <a:rPr lang="en-US" sz="900" dirty="0" err="1"/>
              <a:t>b_string</a:t>
            </a:r>
            <a:r>
              <a:rPr lang="en-US" sz="900" dirty="0"/>
              <a:t> = ['10', 'days', 'to', 'departure']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 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273352-60E6-44A3-6D46-09F1E374A1A6}"/>
              </a:ext>
            </a:extLst>
          </p:cNvPr>
          <p:cNvSpPr/>
          <p:nvPr/>
        </p:nvSpPr>
        <p:spPr>
          <a:xfrm>
            <a:off x="6830009" y="1266143"/>
            <a:ext cx="1716832" cy="5784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[:] 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E79F08-60BE-3639-9FC9-93C1A957DB71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8546841" y="1555392"/>
            <a:ext cx="877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113CB7B-0E10-50AB-A11D-DB50183DE6E7}"/>
              </a:ext>
            </a:extLst>
          </p:cNvPr>
          <p:cNvSpPr/>
          <p:nvPr/>
        </p:nvSpPr>
        <p:spPr>
          <a:xfrm>
            <a:off x="5318889" y="323916"/>
            <a:ext cx="1716832" cy="5784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Shallow Copy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E5FCA6-F01E-55D7-09C2-6FC5A7150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382" y="233646"/>
            <a:ext cx="1856378" cy="85424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0E467A-9F8E-4746-BEEA-22A5240DF6CD}"/>
              </a:ext>
            </a:extLst>
          </p:cNvPr>
          <p:cNvCxnSpPr>
            <a:stCxn id="21" idx="4"/>
            <a:endCxn id="15" idx="0"/>
          </p:cNvCxnSpPr>
          <p:nvPr/>
        </p:nvCxnSpPr>
        <p:spPr>
          <a:xfrm>
            <a:off x="6177305" y="902414"/>
            <a:ext cx="1511120" cy="363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AB6198F-FC3A-6B0C-A934-BAC06D9E3AEB}"/>
              </a:ext>
            </a:extLst>
          </p:cNvPr>
          <p:cNvSpPr/>
          <p:nvPr/>
        </p:nvSpPr>
        <p:spPr>
          <a:xfrm>
            <a:off x="4918789" y="2598932"/>
            <a:ext cx="3721578" cy="7622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compound object (list, dictionary, custom class instance)</a:t>
            </a:r>
            <a:r>
              <a:rPr lang="en-IN" dirty="0"/>
              <a:t> 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42FC5D0-8F5D-EE0A-6DB8-EAA2543ADA31}"/>
              </a:ext>
            </a:extLst>
          </p:cNvPr>
          <p:cNvSpPr/>
          <p:nvPr/>
        </p:nvSpPr>
        <p:spPr>
          <a:xfrm>
            <a:off x="8985820" y="3332987"/>
            <a:ext cx="1716832" cy="5784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Deep copy 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ED9502-C61E-34CE-FD20-300210CEA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2652" y="4389752"/>
            <a:ext cx="2359088" cy="76222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53C21D62-725B-32CC-90E0-B3C53A36FDC7}"/>
              </a:ext>
            </a:extLst>
          </p:cNvPr>
          <p:cNvSpPr/>
          <p:nvPr/>
        </p:nvSpPr>
        <p:spPr>
          <a:xfrm>
            <a:off x="8469087" y="5324167"/>
            <a:ext cx="3722913" cy="11150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copy.deepcopy</a:t>
            </a:r>
            <a:r>
              <a:rPr lang="en-IN" sz="1200" dirty="0"/>
              <a:t>() - </a:t>
            </a:r>
            <a:r>
              <a:rPr lang="en-US" sz="1200" dirty="0"/>
              <a:t>copy dictionaries or custom class objects</a:t>
            </a:r>
            <a:endParaRPr lang="en-IN" sz="1200" dirty="0"/>
          </a:p>
          <a:p>
            <a:pPr algn="ctr"/>
            <a:r>
              <a:rPr lang="en-IN" sz="1200" dirty="0"/>
              <a:t>copy()  - shallow copy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AF706C6-BAFA-F6CE-E531-093BB6346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652" y="1822167"/>
            <a:ext cx="337662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0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A6F7-838A-E7EC-85C5-CD37925D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Serialization of Python objects using the pickle module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8F5B19-7AF2-EEED-318D-21171D58880B}"/>
              </a:ext>
            </a:extLst>
          </p:cNvPr>
          <p:cNvSpPr/>
          <p:nvPr/>
        </p:nvSpPr>
        <p:spPr>
          <a:xfrm>
            <a:off x="942392" y="1950098"/>
            <a:ext cx="3629608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Pickling</a:t>
            </a:r>
            <a:r>
              <a:rPr lang="en-US" sz="900" dirty="0"/>
              <a:t> is the process of preserving or extending the lifespan of food. The resulting food is called a pickle, and to prevent ambiguity, prefaced with the 'pickled' adjective.</a:t>
            </a:r>
            <a:endParaRPr lang="en-IN" sz="9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958992-3442-C40F-C91D-2DF4BF7DEBC6}"/>
              </a:ext>
            </a:extLst>
          </p:cNvPr>
          <p:cNvSpPr/>
          <p:nvPr/>
        </p:nvSpPr>
        <p:spPr>
          <a:xfrm>
            <a:off x="4572000" y="1690689"/>
            <a:ext cx="6858000" cy="18082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n Python, object </a:t>
            </a:r>
            <a:r>
              <a:rPr lang="en-US" sz="1100" b="1" dirty="0"/>
              <a:t>serialization</a:t>
            </a:r>
            <a:r>
              <a:rPr lang="en-US" sz="1100" dirty="0"/>
              <a:t> is the process of converting an object structure into a stream of bytes to store the object in a file or database, or to transmit it via a network. This byte stream contains all the information necessary to reconstruct the object in another Python script.</a:t>
            </a:r>
          </a:p>
          <a:p>
            <a:endParaRPr lang="en-US" sz="1100" dirty="0"/>
          </a:p>
          <a:p>
            <a:r>
              <a:rPr lang="en-US" sz="1100" dirty="0"/>
              <a:t>This reverse process is called </a:t>
            </a:r>
            <a:r>
              <a:rPr lang="en-US" sz="1100" b="1" dirty="0"/>
              <a:t>deserialization</a:t>
            </a:r>
            <a:r>
              <a:rPr lang="en-US" sz="1100" dirty="0"/>
              <a:t>.</a:t>
            </a:r>
          </a:p>
          <a:p>
            <a:pPr algn="ctr"/>
            <a:endParaRPr lang="en-IN" sz="11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B88F6E-AEB3-C20F-D89F-D62ACB657236}"/>
              </a:ext>
            </a:extLst>
          </p:cNvPr>
          <p:cNvSpPr/>
          <p:nvPr/>
        </p:nvSpPr>
        <p:spPr>
          <a:xfrm>
            <a:off x="5262465" y="3956180"/>
            <a:ext cx="6167535" cy="2536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The following types can be pickled:</a:t>
            </a:r>
          </a:p>
          <a:p>
            <a:pPr lvl="1"/>
            <a:r>
              <a:rPr lang="en-US" sz="1000" dirty="0"/>
              <a:t>None, </a:t>
            </a:r>
            <a:r>
              <a:rPr lang="en-US" sz="1000" dirty="0" err="1"/>
              <a:t>booleans</a:t>
            </a:r>
            <a:r>
              <a:rPr lang="en-US" sz="1000" dirty="0"/>
              <a:t>;</a:t>
            </a:r>
          </a:p>
          <a:p>
            <a:pPr lvl="1"/>
            <a:r>
              <a:rPr lang="en-US" sz="1000" dirty="0"/>
              <a:t>integers, floating-point numbers, complex numbers;</a:t>
            </a:r>
          </a:p>
          <a:p>
            <a:pPr lvl="1"/>
            <a:r>
              <a:rPr lang="en-US" sz="1000" dirty="0"/>
              <a:t>strings, bytes, </a:t>
            </a:r>
            <a:r>
              <a:rPr lang="en-US" sz="1000" dirty="0" err="1"/>
              <a:t>bytearrays</a:t>
            </a:r>
            <a:r>
              <a:rPr lang="en-US" sz="1000" dirty="0"/>
              <a:t>;</a:t>
            </a:r>
          </a:p>
          <a:p>
            <a:pPr lvl="1"/>
            <a:r>
              <a:rPr lang="en-US" sz="1000" dirty="0"/>
              <a:t>tuples, lists, sets, and dictionaries containing pickleable objects;</a:t>
            </a:r>
          </a:p>
          <a:p>
            <a:pPr lvl="1"/>
            <a:r>
              <a:rPr lang="en-US" sz="1000" dirty="0"/>
              <a:t>objects, including objects with references to other objects (remember to avoid cycles!)</a:t>
            </a:r>
          </a:p>
          <a:p>
            <a:pPr lvl="1"/>
            <a:r>
              <a:rPr lang="en-US" sz="1000" dirty="0"/>
              <a:t>references to functions and classes, but not their definitions.</a:t>
            </a:r>
          </a:p>
          <a:p>
            <a:pPr lvl="1"/>
            <a:br>
              <a:rPr lang="en-US" sz="1000" dirty="0"/>
            </a:br>
            <a:endParaRPr lang="en-IN" sz="10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763C68-4202-7373-FCAC-95478A199C2A}"/>
              </a:ext>
            </a:extLst>
          </p:cNvPr>
          <p:cNvSpPr/>
          <p:nvPr/>
        </p:nvSpPr>
        <p:spPr>
          <a:xfrm>
            <a:off x="469641" y="2901820"/>
            <a:ext cx="5361992" cy="1729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 err="1"/>
              <a:t>pickle.dumps</a:t>
            </a:r>
            <a:r>
              <a:rPr lang="en-US" sz="900" b="1" dirty="0"/>
              <a:t>() and </a:t>
            </a:r>
            <a:r>
              <a:rPr lang="en-US" sz="900" b="1" dirty="0" err="1"/>
              <a:t>pickle.loads</a:t>
            </a:r>
            <a:r>
              <a:rPr lang="en-US" sz="900" b="1" dirty="0"/>
              <a:t>()</a:t>
            </a:r>
          </a:p>
          <a:p>
            <a:pPr algn="ctr"/>
            <a:endParaRPr lang="en-US" sz="900" b="1" dirty="0"/>
          </a:p>
          <a:p>
            <a:pPr algn="ctr"/>
            <a:r>
              <a:rPr lang="en-US" sz="900" dirty="0" err="1"/>
              <a:t>pickle.dumps</a:t>
            </a:r>
            <a:r>
              <a:rPr lang="en-US" sz="900" dirty="0"/>
              <a:t>(</a:t>
            </a:r>
            <a:r>
              <a:rPr lang="en-US" sz="900" dirty="0" err="1"/>
              <a:t>object_to_be_pickled</a:t>
            </a:r>
            <a:r>
              <a:rPr lang="en-US" sz="900" dirty="0"/>
              <a:t>) – expects an initial object, returns a byte object. This byte object should be passed to a database or network driver to persist the data;</a:t>
            </a:r>
          </a:p>
          <a:p>
            <a:pPr algn="ctr"/>
            <a:r>
              <a:rPr lang="en-US" sz="900" dirty="0" err="1"/>
              <a:t>pickle.loads</a:t>
            </a:r>
            <a:r>
              <a:rPr lang="en-US" sz="900" dirty="0"/>
              <a:t>(</a:t>
            </a:r>
            <a:r>
              <a:rPr lang="en-US" sz="900" dirty="0" err="1"/>
              <a:t>bytes_object</a:t>
            </a:r>
            <a:r>
              <a:rPr lang="en-US" sz="900" dirty="0"/>
              <a:t>) – expects the bytes object, returns the initial object.</a:t>
            </a:r>
            <a:endParaRPr lang="en-IN" sz="9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086D60-6F01-0375-0F81-A05C9D1F6E0D}"/>
              </a:ext>
            </a:extLst>
          </p:cNvPr>
          <p:cNvSpPr/>
          <p:nvPr/>
        </p:nvSpPr>
        <p:spPr>
          <a:xfrm>
            <a:off x="752670" y="4643534"/>
            <a:ext cx="2397967" cy="794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PicklingError</a:t>
            </a:r>
            <a:endParaRPr lang="en-IN" dirty="0"/>
          </a:p>
          <a:p>
            <a:pPr algn="ctr"/>
            <a:r>
              <a:rPr lang="en-IN" dirty="0" err="1"/>
              <a:t>RecursionErro</a:t>
            </a:r>
            <a:endParaRPr lang="en-IN" dirty="0"/>
          </a:p>
          <a:p>
            <a:pPr algn="ctr"/>
            <a:r>
              <a:rPr lang="en-IN" dirty="0" err="1"/>
              <a:t>AtrributeErrorr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06C1CF-874D-AABA-EBB5-F839EB21F5C0}"/>
              </a:ext>
            </a:extLst>
          </p:cNvPr>
          <p:cNvSpPr/>
          <p:nvPr/>
        </p:nvSpPr>
        <p:spPr>
          <a:xfrm>
            <a:off x="3150637" y="5167311"/>
            <a:ext cx="2397967" cy="15047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Trying to pickle a highly recursive data structure (mind the cycles) may exceed the maximum recursion depth</a:t>
            </a:r>
            <a:endParaRPr lang="en-IN" sz="1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1ABAF4-AAE8-FE28-8ECB-16BC2421C7FA}"/>
              </a:ext>
            </a:extLst>
          </p:cNvPr>
          <p:cNvSpPr/>
          <p:nvPr/>
        </p:nvSpPr>
        <p:spPr>
          <a:xfrm>
            <a:off x="541176" y="5710335"/>
            <a:ext cx="2090057" cy="794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ensure that the environment where the class or function is unpickled is able to import the class or function definition.</a:t>
            </a:r>
            <a:endParaRPr lang="en-IN" sz="7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CCA126-FC2B-7ADA-B85D-2E57683ED49D}"/>
              </a:ext>
            </a:extLst>
          </p:cNvPr>
          <p:cNvSpPr/>
          <p:nvPr/>
        </p:nvSpPr>
        <p:spPr>
          <a:xfrm>
            <a:off x="541176" y="1343608"/>
            <a:ext cx="1772816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shelve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8EFC7B-7C18-943B-EF85-8A6B86F7F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491" y="508755"/>
            <a:ext cx="4111679" cy="15066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C68F14-115D-7F9E-820B-9E5C04A0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414" y="4315493"/>
            <a:ext cx="7964011" cy="212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1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28C6-9C06-6E5E-F40A-5BBD6F5A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Metaprogramming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54685-25CC-429B-6377-DE7D4A370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4997" y="2905766"/>
            <a:ext cx="3982006" cy="2191056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22D3C13-E8E6-8DBE-6879-D7AC2BD4B26A}"/>
              </a:ext>
            </a:extLst>
          </p:cNvPr>
          <p:cNvSpPr/>
          <p:nvPr/>
        </p:nvSpPr>
        <p:spPr>
          <a:xfrm>
            <a:off x="140077" y="3620124"/>
            <a:ext cx="1858945" cy="934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__name__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31476C-F64D-3E3C-B7F1-8091A4FA2EDD}"/>
              </a:ext>
            </a:extLst>
          </p:cNvPr>
          <p:cNvSpPr/>
          <p:nvPr/>
        </p:nvSpPr>
        <p:spPr>
          <a:xfrm>
            <a:off x="8996624" y="2004545"/>
            <a:ext cx="2274756" cy="1207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__class__ - type() return same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263DD5-2153-66CF-881A-59FF943BD3CA}"/>
              </a:ext>
            </a:extLst>
          </p:cNvPr>
          <p:cNvSpPr/>
          <p:nvPr/>
        </p:nvSpPr>
        <p:spPr>
          <a:xfrm>
            <a:off x="140078" y="5827976"/>
            <a:ext cx="1858945" cy="934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__bases__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E3AFCD-CBB6-D358-BC50-8DF2325D6F2B}"/>
              </a:ext>
            </a:extLst>
          </p:cNvPr>
          <p:cNvSpPr/>
          <p:nvPr/>
        </p:nvSpPr>
        <p:spPr>
          <a:xfrm>
            <a:off x="8925807" y="678982"/>
            <a:ext cx="1858945" cy="934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</a:t>
            </a:r>
            <a:r>
              <a:rPr lang="en-US" dirty="0" err="1"/>
              <a:t>dict</a:t>
            </a:r>
            <a:r>
              <a:rPr lang="en-US" dirty="0"/>
              <a:t>__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4E6FB6-C731-E760-790D-0AF7D7D5FCDF}"/>
              </a:ext>
            </a:extLst>
          </p:cNvPr>
          <p:cNvSpPr/>
          <p:nvPr/>
        </p:nvSpPr>
        <p:spPr>
          <a:xfrm>
            <a:off x="6679762" y="1342738"/>
            <a:ext cx="1858945" cy="934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inherent for both classes and instances</a:t>
            </a:r>
            <a:endParaRPr lang="en-IN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0EF50F-ED52-B136-A118-560EDD488C45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V="1">
            <a:off x="7609235" y="1146230"/>
            <a:ext cx="1316572" cy="196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E18D12-3160-D32C-26D9-F4548AD20640}"/>
              </a:ext>
            </a:extLst>
          </p:cNvPr>
          <p:cNvCxnSpPr>
            <a:cxnSpLocks/>
            <a:stCxn id="10" idx="4"/>
            <a:endCxn id="7" idx="2"/>
          </p:cNvCxnSpPr>
          <p:nvPr/>
        </p:nvCxnSpPr>
        <p:spPr>
          <a:xfrm>
            <a:off x="7609235" y="2277234"/>
            <a:ext cx="1387389" cy="33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7914D0E-90D9-B3E4-1EB8-E511CF9D0490}"/>
              </a:ext>
            </a:extLst>
          </p:cNvPr>
          <p:cNvSpPr/>
          <p:nvPr/>
        </p:nvSpPr>
        <p:spPr>
          <a:xfrm>
            <a:off x="1644342" y="4854158"/>
            <a:ext cx="1858945" cy="934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inherent for class</a:t>
            </a:r>
            <a:endParaRPr lang="en-IN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993694-7194-3A05-A04E-2019AEA4E40E}"/>
              </a:ext>
            </a:extLst>
          </p:cNvPr>
          <p:cNvCxnSpPr>
            <a:cxnSpLocks/>
            <a:stCxn id="15" idx="0"/>
            <a:endCxn id="6" idx="5"/>
          </p:cNvCxnSpPr>
          <p:nvPr/>
        </p:nvCxnSpPr>
        <p:spPr>
          <a:xfrm flipH="1" flipV="1">
            <a:off x="1726786" y="4417766"/>
            <a:ext cx="847029" cy="436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B65AD8-9D7E-E32C-1E3D-728FEAC25D7D}"/>
              </a:ext>
            </a:extLst>
          </p:cNvPr>
          <p:cNvCxnSpPr>
            <a:stCxn id="15" idx="4"/>
          </p:cNvCxnSpPr>
          <p:nvPr/>
        </p:nvCxnSpPr>
        <p:spPr>
          <a:xfrm flipH="1">
            <a:off x="1999022" y="5788654"/>
            <a:ext cx="574793" cy="436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9362FA9D-6724-D1DF-C063-7D13B3175ABE}"/>
              </a:ext>
            </a:extLst>
          </p:cNvPr>
          <p:cNvSpPr/>
          <p:nvPr/>
        </p:nvSpPr>
        <p:spPr>
          <a:xfrm>
            <a:off x="441768" y="1454943"/>
            <a:ext cx="3648269" cy="20154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type() function is called with three arguments, then it dynamically creates a new class.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For the invocation of type(, , )</a:t>
            </a:r>
            <a:endParaRPr lang="en-IN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B2AA3E-11FD-AE5B-5B16-CBD8DD80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09" y="3798276"/>
            <a:ext cx="6516009" cy="25149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61E4173-D998-DD04-144A-EEFE034D8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495" y="5713118"/>
            <a:ext cx="5545398" cy="21502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4A3A554-EEAC-A0C1-6214-A1107FD30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0631" y="-409868"/>
            <a:ext cx="6830762" cy="420111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B539FC9-B753-1A26-7277-39565C208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2197" y="3989394"/>
            <a:ext cx="6220693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46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5E36754-0007-5E6B-2C73-368B3F4AF195}"/>
              </a:ext>
            </a:extLst>
          </p:cNvPr>
          <p:cNvSpPr/>
          <p:nvPr/>
        </p:nvSpPr>
        <p:spPr>
          <a:xfrm>
            <a:off x="4795935" y="2715208"/>
            <a:ext cx="3209730" cy="15488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Behavior Pattern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488B69-2760-F596-28DE-A91DF2E44BF7}"/>
              </a:ext>
            </a:extLst>
          </p:cNvPr>
          <p:cNvSpPr/>
          <p:nvPr/>
        </p:nvSpPr>
        <p:spPr>
          <a:xfrm>
            <a:off x="1614196" y="1296955"/>
            <a:ext cx="2425959" cy="1240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Strategy Pattern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8155DF-A43B-11A8-9F76-1F4AD807E6BE}"/>
              </a:ext>
            </a:extLst>
          </p:cNvPr>
          <p:cNvSpPr/>
          <p:nvPr/>
        </p:nvSpPr>
        <p:spPr>
          <a:xfrm>
            <a:off x="4795935" y="676469"/>
            <a:ext cx="2425959" cy="1240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 of responsibility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2279FC-12FC-D800-7A79-CA19E4DCDEDE}"/>
              </a:ext>
            </a:extLst>
          </p:cNvPr>
          <p:cNvSpPr/>
          <p:nvPr/>
        </p:nvSpPr>
        <p:spPr>
          <a:xfrm>
            <a:off x="1508449" y="3643604"/>
            <a:ext cx="2425959" cy="1240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Observer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4C0975-76ED-00D0-DED6-AF1AB8E8AB05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5896947" y="1917441"/>
            <a:ext cx="111968" cy="79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9188E2-2269-789E-711F-C4DEDA80FA53}"/>
              </a:ext>
            </a:extLst>
          </p:cNvPr>
          <p:cNvCxnSpPr>
            <a:cxnSpLocks/>
            <a:stCxn id="4" idx="1"/>
            <a:endCxn id="5" idx="5"/>
          </p:cNvCxnSpPr>
          <p:nvPr/>
        </p:nvCxnSpPr>
        <p:spPr>
          <a:xfrm flipH="1" flipV="1">
            <a:off x="3684882" y="2356191"/>
            <a:ext cx="1581107" cy="585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FBFCF5-6476-3DCB-3EEE-9617BD32A644}"/>
              </a:ext>
            </a:extLst>
          </p:cNvPr>
          <p:cNvCxnSpPr>
            <a:cxnSpLocks/>
            <a:stCxn id="4" idx="2"/>
            <a:endCxn id="7" idx="7"/>
          </p:cNvCxnSpPr>
          <p:nvPr/>
        </p:nvCxnSpPr>
        <p:spPr>
          <a:xfrm flipH="1">
            <a:off x="3579135" y="3489649"/>
            <a:ext cx="1216800" cy="335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CB8DDB-E273-B2F2-912E-321027B78524}"/>
              </a:ext>
            </a:extLst>
          </p:cNvPr>
          <p:cNvSpPr/>
          <p:nvPr/>
        </p:nvSpPr>
        <p:spPr>
          <a:xfrm>
            <a:off x="7557796" y="2472611"/>
            <a:ext cx="2198914" cy="12409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Interact with external.</a:t>
            </a:r>
          </a:p>
          <a:p>
            <a:pPr algn="ctr"/>
            <a:r>
              <a:rPr lang="en-US" dirty="0"/>
              <a:t>Communication related </a:t>
            </a:r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8D3B17-9245-E743-AF20-467E131D94F7}"/>
              </a:ext>
            </a:extLst>
          </p:cNvPr>
          <p:cNvSpPr/>
          <p:nvPr/>
        </p:nvSpPr>
        <p:spPr>
          <a:xfrm>
            <a:off x="569167" y="3265714"/>
            <a:ext cx="1390262" cy="1054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Subscriber</a:t>
            </a:r>
          </a:p>
          <a:p>
            <a:pPr algn="ctr"/>
            <a:r>
              <a:rPr lang="en-US" dirty="0"/>
              <a:t>Publisher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AB743A-1DBF-9CFC-5D7E-357AFE20CFC1}"/>
              </a:ext>
            </a:extLst>
          </p:cNvPr>
          <p:cNvSpPr/>
          <p:nvPr/>
        </p:nvSpPr>
        <p:spPr>
          <a:xfrm>
            <a:off x="5685453" y="5186265"/>
            <a:ext cx="2425959" cy="1240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94D9BA-7D8F-D9E6-FF2F-395F15847FAD}"/>
              </a:ext>
            </a:extLst>
          </p:cNvPr>
          <p:cNvCxnSpPr>
            <a:cxnSpLocks/>
            <a:stCxn id="4" idx="4"/>
            <a:endCxn id="20" idx="0"/>
          </p:cNvCxnSpPr>
          <p:nvPr/>
        </p:nvCxnSpPr>
        <p:spPr>
          <a:xfrm>
            <a:off x="6400800" y="4264090"/>
            <a:ext cx="497633" cy="922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8E11C6-329F-A388-6F4A-A45A05A84222}"/>
              </a:ext>
            </a:extLst>
          </p:cNvPr>
          <p:cNvSpPr/>
          <p:nvPr/>
        </p:nvSpPr>
        <p:spPr>
          <a:xfrm>
            <a:off x="5094514" y="5327780"/>
            <a:ext cx="914401" cy="10994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Undo/Redo</a:t>
            </a:r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6BCF7C0-4552-E6B1-550E-6CD126856B07}"/>
              </a:ext>
            </a:extLst>
          </p:cNvPr>
          <p:cNvSpPr/>
          <p:nvPr/>
        </p:nvSpPr>
        <p:spPr>
          <a:xfrm>
            <a:off x="8151845" y="567611"/>
            <a:ext cx="2425959" cy="1240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Iterator Pattern</a:t>
            </a:r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CB563DE-29C2-A7BE-F7EC-B60314807B11}"/>
              </a:ext>
            </a:extLst>
          </p:cNvPr>
          <p:cNvCxnSpPr>
            <a:cxnSpLocks/>
            <a:stCxn id="4" idx="0"/>
            <a:endCxn id="25" idx="4"/>
          </p:cNvCxnSpPr>
          <p:nvPr/>
        </p:nvCxnSpPr>
        <p:spPr>
          <a:xfrm flipV="1">
            <a:off x="6400800" y="1808583"/>
            <a:ext cx="2964025" cy="906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64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73119F-A739-A9D3-434F-A4A93D90A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9437"/>
            <a:ext cx="4912326" cy="25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1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5CB196-5FB2-81D2-D376-29D773B7DCEE}"/>
              </a:ext>
            </a:extLst>
          </p:cNvPr>
          <p:cNvSpPr/>
          <p:nvPr/>
        </p:nvSpPr>
        <p:spPr>
          <a:xfrm>
            <a:off x="4788427" y="2104763"/>
            <a:ext cx="1511560" cy="75577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Logging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06DACD-DDE9-A19C-526C-B7DBD957F69F}"/>
              </a:ext>
            </a:extLst>
          </p:cNvPr>
          <p:cNvSpPr/>
          <p:nvPr/>
        </p:nvSpPr>
        <p:spPr>
          <a:xfrm>
            <a:off x="5187820" y="689912"/>
            <a:ext cx="1511560" cy="75577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Levels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AFAC27-8800-60AC-9A6F-308252C338AD}"/>
              </a:ext>
            </a:extLst>
          </p:cNvPr>
          <p:cNvSpPr/>
          <p:nvPr/>
        </p:nvSpPr>
        <p:spPr>
          <a:xfrm>
            <a:off x="2728188" y="1929215"/>
            <a:ext cx="1511560" cy="858417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Level Method</a:t>
            </a:r>
          </a:p>
          <a:p>
            <a:pPr algn="ctr"/>
            <a:r>
              <a:rPr lang="en-IN" sz="1200" dirty="0" err="1">
                <a:latin typeface="Bodoni MT Black" panose="02070A03080606020203" pitchFamily="18" charset="0"/>
              </a:rPr>
              <a:t>logging.setLevel</a:t>
            </a:r>
            <a:r>
              <a:rPr lang="en-IN" sz="1200" dirty="0">
                <a:latin typeface="Bodoni MT Black" panose="02070A03080606020203" pitchFamily="18" charset="0"/>
              </a:rPr>
              <a:t>()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595B8F-C0AA-00C6-BF6A-501C501A0665}"/>
              </a:ext>
            </a:extLst>
          </p:cNvPr>
          <p:cNvSpPr/>
          <p:nvPr/>
        </p:nvSpPr>
        <p:spPr>
          <a:xfrm>
            <a:off x="8265368" y="-46653"/>
            <a:ext cx="3694923" cy="1828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400" dirty="0">
                <a:latin typeface="Bodoni MT" panose="02070603080606020203" pitchFamily="18" charset="0"/>
              </a:rPr>
              <a:t>import logging</a:t>
            </a:r>
          </a:p>
          <a:p>
            <a:endParaRPr lang="en-IN" sz="1400" dirty="0">
              <a:latin typeface="Bodoni MT" panose="02070603080606020203" pitchFamily="18" charset="0"/>
            </a:endParaRPr>
          </a:p>
          <a:p>
            <a:r>
              <a:rPr lang="en-IN" sz="1400" dirty="0" err="1">
                <a:latin typeface="Bodoni MT" panose="02070603080606020203" pitchFamily="18" charset="0"/>
              </a:rPr>
              <a:t>logging.basicConfig</a:t>
            </a:r>
            <a:r>
              <a:rPr lang="en-IN" sz="1400" dirty="0">
                <a:latin typeface="Bodoni MT" panose="02070603080606020203" pitchFamily="18" charset="0"/>
              </a:rPr>
              <a:t>()</a:t>
            </a:r>
          </a:p>
          <a:p>
            <a:r>
              <a:rPr lang="en-IN" sz="1400" dirty="0">
                <a:latin typeface="Bodoni MT" panose="02070603080606020203" pitchFamily="18" charset="0"/>
              </a:rPr>
              <a:t>logger = </a:t>
            </a:r>
            <a:r>
              <a:rPr lang="en-IN" sz="1400" dirty="0" err="1">
                <a:latin typeface="Bodoni MT" panose="02070603080606020203" pitchFamily="18" charset="0"/>
              </a:rPr>
              <a:t>logging.getLogger</a:t>
            </a:r>
            <a:r>
              <a:rPr lang="en-IN" sz="1400" dirty="0">
                <a:latin typeface="Bodoni MT" panose="02070603080606020203" pitchFamily="18" charset="0"/>
              </a:rPr>
              <a:t>()</a:t>
            </a:r>
          </a:p>
          <a:p>
            <a:r>
              <a:rPr lang="en-US" sz="1400" dirty="0" err="1">
                <a:latin typeface="Bodoni MT" panose="02070603080606020203" pitchFamily="18" charset="0"/>
              </a:rPr>
              <a:t>logger.setLevel</a:t>
            </a:r>
            <a:r>
              <a:rPr lang="en-US" sz="1400" dirty="0">
                <a:latin typeface="Bodoni MT" panose="02070603080606020203" pitchFamily="18" charset="0"/>
              </a:rPr>
              <a:t>(</a:t>
            </a:r>
            <a:r>
              <a:rPr lang="en-US" sz="1400" dirty="0" err="1">
                <a:latin typeface="Bodoni MT" panose="02070603080606020203" pitchFamily="18" charset="0"/>
              </a:rPr>
              <a:t>logging.DEBUG</a:t>
            </a:r>
            <a:r>
              <a:rPr lang="en-US" sz="1400" dirty="0">
                <a:latin typeface="Bodoni MT" panose="02070603080606020203" pitchFamily="18" charset="0"/>
              </a:rPr>
              <a:t>)</a:t>
            </a:r>
          </a:p>
          <a:p>
            <a:endParaRPr lang="en-US" sz="1400" dirty="0">
              <a:latin typeface="Bodoni MT" panose="02070603080606020203" pitchFamily="18" charset="0"/>
            </a:endParaRPr>
          </a:p>
          <a:p>
            <a:r>
              <a:rPr lang="en-US" sz="1400" dirty="0" err="1">
                <a:latin typeface="Bodoni MT" panose="02070603080606020203" pitchFamily="18" charset="0"/>
              </a:rPr>
              <a:t>logger.critical</a:t>
            </a:r>
            <a:r>
              <a:rPr lang="en-US" sz="1400" dirty="0">
                <a:latin typeface="Bodoni MT" panose="02070603080606020203" pitchFamily="18" charset="0"/>
              </a:rPr>
              <a:t>('Your CRITICAL message')</a:t>
            </a:r>
          </a:p>
          <a:p>
            <a:endParaRPr lang="en-IN" sz="1400" dirty="0">
              <a:latin typeface="Bodoni MT" panose="02070603080606020203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449A5B-E97A-6999-A7DB-2763C0F74AE7}"/>
              </a:ext>
            </a:extLst>
          </p:cNvPr>
          <p:cNvSpPr/>
          <p:nvPr/>
        </p:nvSpPr>
        <p:spPr>
          <a:xfrm>
            <a:off x="2427243" y="4135787"/>
            <a:ext cx="1511560" cy="75577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Bodoni MT Black" panose="02070A03080606020203" pitchFamily="18" charset="0"/>
              </a:rPr>
              <a:t>basicConfig</a:t>
            </a:r>
            <a:endParaRPr lang="en-IN" sz="1200" dirty="0">
              <a:latin typeface="Bodoni MT Black" panose="02070A03080606020203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D40686-8A8C-C6AE-4747-D21A2449FAB5}"/>
              </a:ext>
            </a:extLst>
          </p:cNvPr>
          <p:cNvSpPr/>
          <p:nvPr/>
        </p:nvSpPr>
        <p:spPr>
          <a:xfrm>
            <a:off x="160849" y="6083560"/>
            <a:ext cx="5134678" cy="7557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900" dirty="0">
                <a:latin typeface="Bodoni MT" panose="02070603080606020203" pitchFamily="18" charset="0"/>
              </a:rPr>
              <a:t>FORMAT = '%(name)s:%(</a:t>
            </a:r>
            <a:r>
              <a:rPr lang="en-IN" sz="900" dirty="0" err="1">
                <a:latin typeface="Bodoni MT" panose="02070603080606020203" pitchFamily="18" charset="0"/>
              </a:rPr>
              <a:t>levelname</a:t>
            </a:r>
            <a:r>
              <a:rPr lang="en-IN" sz="900" dirty="0">
                <a:latin typeface="Bodoni MT" panose="02070603080606020203" pitchFamily="18" charset="0"/>
              </a:rPr>
              <a:t>)s:%(</a:t>
            </a:r>
            <a:r>
              <a:rPr lang="en-IN" sz="900" dirty="0" err="1">
                <a:latin typeface="Bodoni MT" panose="02070603080606020203" pitchFamily="18" charset="0"/>
              </a:rPr>
              <a:t>asctime</a:t>
            </a:r>
            <a:r>
              <a:rPr lang="en-IN" sz="900" dirty="0">
                <a:latin typeface="Bodoni MT" panose="02070603080606020203" pitchFamily="18" charset="0"/>
              </a:rPr>
              <a:t>)s:%(message)s'</a:t>
            </a:r>
          </a:p>
          <a:p>
            <a:r>
              <a:rPr lang="en-IN" sz="900" dirty="0" err="1">
                <a:latin typeface="Bodoni MT" panose="02070603080606020203" pitchFamily="18" charset="0"/>
              </a:rPr>
              <a:t>logging.basicConfig</a:t>
            </a:r>
            <a:r>
              <a:rPr lang="en-IN" sz="900" dirty="0">
                <a:latin typeface="Bodoni MT" panose="02070603080606020203" pitchFamily="18" charset="0"/>
              </a:rPr>
              <a:t>(level=</a:t>
            </a:r>
            <a:r>
              <a:rPr lang="en-IN" sz="900" dirty="0" err="1">
                <a:latin typeface="Bodoni MT" panose="02070603080606020203" pitchFamily="18" charset="0"/>
              </a:rPr>
              <a:t>logging.CRITICAL</a:t>
            </a:r>
            <a:r>
              <a:rPr lang="en-IN" sz="900" dirty="0">
                <a:latin typeface="Bodoni MT" panose="02070603080606020203" pitchFamily="18" charset="0"/>
              </a:rPr>
              <a:t>, filename='prod.log', </a:t>
            </a:r>
            <a:r>
              <a:rPr lang="en-IN" sz="900" dirty="0" err="1">
                <a:latin typeface="Bodoni MT" panose="02070603080606020203" pitchFamily="18" charset="0"/>
              </a:rPr>
              <a:t>filemode</a:t>
            </a:r>
            <a:r>
              <a:rPr lang="en-IN" sz="900" dirty="0">
                <a:latin typeface="Bodoni MT" panose="02070603080606020203" pitchFamily="18" charset="0"/>
              </a:rPr>
              <a:t>='a', format=FORMAT)</a:t>
            </a:r>
          </a:p>
          <a:p>
            <a:r>
              <a:rPr lang="en-IN" sz="900" dirty="0" err="1">
                <a:latin typeface="Bodoni MT" panose="02070603080606020203" pitchFamily="18" charset="0"/>
              </a:rPr>
              <a:t>logging.basicConfig</a:t>
            </a:r>
            <a:r>
              <a:rPr lang="en-IN" sz="900" dirty="0">
                <a:latin typeface="Bodoni MT" panose="02070603080606020203" pitchFamily="18" charset="0"/>
              </a:rPr>
              <a:t>(level=</a:t>
            </a:r>
            <a:r>
              <a:rPr lang="en-IN" sz="900" dirty="0" err="1">
                <a:latin typeface="Bodoni MT" panose="02070603080606020203" pitchFamily="18" charset="0"/>
              </a:rPr>
              <a:t>logging.DEBUG</a:t>
            </a:r>
            <a:r>
              <a:rPr lang="en-IN" sz="900" dirty="0">
                <a:latin typeface="Bodoni MT" panose="02070603080606020203" pitchFamily="18" charset="0"/>
              </a:rPr>
              <a:t>, filename='martin_logging.log', </a:t>
            </a:r>
            <a:r>
              <a:rPr lang="en-IN" sz="900" dirty="0" err="1">
                <a:latin typeface="Bodoni MT" panose="02070603080606020203" pitchFamily="18" charset="0"/>
              </a:rPr>
              <a:t>filemode</a:t>
            </a:r>
            <a:r>
              <a:rPr lang="en-IN" sz="900" dirty="0">
                <a:latin typeface="Bodoni MT" panose="02070603080606020203" pitchFamily="18" charset="0"/>
              </a:rPr>
              <a:t>='a')</a:t>
            </a:r>
          </a:p>
          <a:p>
            <a:endParaRPr lang="en-IN" sz="900" dirty="0">
              <a:latin typeface="Bodoni MT" panose="02070603080606020203" pitchFamily="18" charset="0"/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C04E959-FA5D-303F-96A9-618E13A7C93D}"/>
              </a:ext>
            </a:extLst>
          </p:cNvPr>
          <p:cNvCxnSpPr>
            <a:cxnSpLocks/>
            <a:stCxn id="51" idx="0"/>
            <a:endCxn id="8" idx="2"/>
          </p:cNvCxnSpPr>
          <p:nvPr/>
        </p:nvCxnSpPr>
        <p:spPr>
          <a:xfrm rot="5400000" flipH="1" flipV="1">
            <a:off x="1492639" y="3826314"/>
            <a:ext cx="247240" cy="1621967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451B5D6-313C-597F-DDB1-CF05B888622B}"/>
              </a:ext>
            </a:extLst>
          </p:cNvPr>
          <p:cNvCxnSpPr>
            <a:cxnSpLocks/>
            <a:stCxn id="8" idx="6"/>
            <a:endCxn id="4" idx="3"/>
          </p:cNvCxnSpPr>
          <p:nvPr/>
        </p:nvCxnSpPr>
        <p:spPr>
          <a:xfrm flipV="1">
            <a:off x="3938803" y="2749861"/>
            <a:ext cx="1070987" cy="176381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39561292-469B-1507-924C-63812728EAA2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6200000" flipV="1">
            <a:off x="4103765" y="1309419"/>
            <a:ext cx="286229" cy="1525822"/>
          </a:xfrm>
          <a:prstGeom prst="curvedConnector3">
            <a:avLst>
              <a:gd name="adj1" fmla="val 179866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AF8DCA4-4E79-4D76-11FF-01B7B8AA4C0F}"/>
              </a:ext>
            </a:extLst>
          </p:cNvPr>
          <p:cNvCxnSpPr>
            <a:cxnSpLocks/>
            <a:stCxn id="5" idx="6"/>
            <a:endCxn id="4" idx="7"/>
          </p:cNvCxnSpPr>
          <p:nvPr/>
        </p:nvCxnSpPr>
        <p:spPr>
          <a:xfrm flipH="1">
            <a:off x="6078624" y="1067802"/>
            <a:ext cx="620756" cy="1147642"/>
          </a:xfrm>
          <a:prstGeom prst="curvedConnector4">
            <a:avLst>
              <a:gd name="adj1" fmla="val -36826"/>
              <a:gd name="adj2" fmla="val 61642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3402E4F-8476-E474-2671-29945922A1BB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 flipV="1">
            <a:off x="6299987" y="867747"/>
            <a:ext cx="1965381" cy="1614906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80A80259-1285-F684-83AF-2B5679B17561}"/>
              </a:ext>
            </a:extLst>
          </p:cNvPr>
          <p:cNvCxnSpPr>
            <a:cxnSpLocks/>
            <a:stCxn id="8" idx="0"/>
            <a:endCxn id="6" idx="4"/>
          </p:cNvCxnSpPr>
          <p:nvPr/>
        </p:nvCxnSpPr>
        <p:spPr>
          <a:xfrm rot="5400000" flipH="1" flipV="1">
            <a:off x="2659418" y="3311238"/>
            <a:ext cx="1348155" cy="300945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F3618D4-F5C9-F035-F710-E75E91BB9DB0}"/>
              </a:ext>
            </a:extLst>
          </p:cNvPr>
          <p:cNvSpPr txBox="1"/>
          <p:nvPr/>
        </p:nvSpPr>
        <p:spPr>
          <a:xfrm>
            <a:off x="2633774" y="2939517"/>
            <a:ext cx="1981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Bodoni MT" panose="02070603080606020203" pitchFamily="18" charset="0"/>
              </a:rPr>
              <a:t>Logging method can be configured on </a:t>
            </a:r>
            <a:r>
              <a:rPr lang="en-IN" sz="1000" dirty="0" err="1">
                <a:latin typeface="Bodoni MT" panose="02070603080606020203" pitchFamily="18" charset="0"/>
              </a:rPr>
              <a:t>basicConfig</a:t>
            </a:r>
            <a:r>
              <a:rPr lang="en-IN" sz="1000" dirty="0">
                <a:latin typeface="Bodoni MT" panose="02070603080606020203" pitchFamily="18" charset="0"/>
              </a:rPr>
              <a:t> Also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E392191-EF74-5D6F-A118-637513EB3419}"/>
              </a:ext>
            </a:extLst>
          </p:cNvPr>
          <p:cNvSpPr/>
          <p:nvPr/>
        </p:nvSpPr>
        <p:spPr>
          <a:xfrm>
            <a:off x="82629" y="1294850"/>
            <a:ext cx="2502354" cy="1170082"/>
          </a:xfrm>
          <a:prstGeom prst="roundRect">
            <a:avLst>
              <a:gd name="adj" fmla="val 175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dirty="0">
                <a:latin typeface="Bodoni MT" panose="02070603080606020203" pitchFamily="18" charset="0"/>
              </a:rPr>
              <a:t>Calling the </a:t>
            </a:r>
            <a:r>
              <a:rPr lang="en-US" sz="1050" dirty="0" err="1">
                <a:latin typeface="Bodoni MT" panose="02070603080606020203" pitchFamily="18" charset="0"/>
              </a:rPr>
              <a:t>basicConfig</a:t>
            </a:r>
            <a:r>
              <a:rPr lang="en-US" sz="1050" dirty="0">
                <a:latin typeface="Bodoni MT" panose="02070603080606020203" pitchFamily="18" charset="0"/>
              </a:rPr>
              <a:t> method (without specifying any arguments) creates a </a:t>
            </a:r>
            <a:r>
              <a:rPr lang="en-US" sz="1050" dirty="0" err="1">
                <a:latin typeface="Bodoni MT" panose="02070603080606020203" pitchFamily="18" charset="0"/>
              </a:rPr>
              <a:t>StreamHandler</a:t>
            </a:r>
            <a:r>
              <a:rPr lang="en-US" sz="1050" dirty="0">
                <a:latin typeface="Bodoni MT" panose="02070603080606020203" pitchFamily="18" charset="0"/>
              </a:rPr>
              <a:t> object that processes the logs and then displays them in the console.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550C38-9C54-38EC-AB59-1F4F084C7759}"/>
              </a:ext>
            </a:extLst>
          </p:cNvPr>
          <p:cNvSpPr/>
          <p:nvPr/>
        </p:nvSpPr>
        <p:spPr>
          <a:xfrm>
            <a:off x="5476800" y="5255355"/>
            <a:ext cx="2445159" cy="158398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Format</a:t>
            </a:r>
          </a:p>
          <a:p>
            <a:pPr algn="ctr"/>
            <a:r>
              <a:rPr lang="en-IN" sz="1200" dirty="0">
                <a:latin typeface="Bodoni MT" panose="02070603080606020203" pitchFamily="18" charset="0"/>
              </a:rPr>
              <a:t>FORMAT = '%(name)s:%(</a:t>
            </a:r>
            <a:r>
              <a:rPr lang="en-IN" sz="1200" dirty="0" err="1">
                <a:latin typeface="Bodoni MT" panose="02070603080606020203" pitchFamily="18" charset="0"/>
              </a:rPr>
              <a:t>levelname</a:t>
            </a:r>
            <a:r>
              <a:rPr lang="en-IN" sz="1200" dirty="0">
                <a:latin typeface="Bodoni MT" panose="02070603080606020203" pitchFamily="18" charset="0"/>
              </a:rPr>
              <a:t>)s:%(</a:t>
            </a:r>
            <a:r>
              <a:rPr lang="en-IN" sz="1200" dirty="0" err="1">
                <a:latin typeface="Bodoni MT" panose="02070603080606020203" pitchFamily="18" charset="0"/>
              </a:rPr>
              <a:t>asctime</a:t>
            </a:r>
            <a:r>
              <a:rPr lang="en-IN" sz="1200" dirty="0">
                <a:latin typeface="Bodoni MT" panose="02070603080606020203" pitchFamily="18" charset="0"/>
              </a:rPr>
              <a:t>)s:%(message)s'</a:t>
            </a:r>
          </a:p>
          <a:p>
            <a:pPr algn="ctr"/>
            <a:endParaRPr lang="en-IN" sz="1200" dirty="0">
              <a:latin typeface="Bodoni MT Black" panose="02070A03080606020203" pitchFamily="18" charset="0"/>
            </a:endParaRPr>
          </a:p>
          <a:p>
            <a:pPr algn="ctr"/>
            <a:endParaRPr lang="en-IN" sz="1200" dirty="0">
              <a:latin typeface="Bodoni MT Black" panose="02070A03080606020203" pitchFamily="18" charset="0"/>
            </a:endParaRP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858D2D23-7745-0DB1-E8CC-44D8BA8ECB6E}"/>
              </a:ext>
            </a:extLst>
          </p:cNvPr>
          <p:cNvCxnSpPr>
            <a:cxnSpLocks/>
            <a:stCxn id="8" idx="4"/>
            <a:endCxn id="41" idx="1"/>
          </p:cNvCxnSpPr>
          <p:nvPr/>
        </p:nvCxnSpPr>
        <p:spPr>
          <a:xfrm rot="16200000" flipH="1">
            <a:off x="4211075" y="3863514"/>
            <a:ext cx="595758" cy="2651862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1748CA4-B28A-F624-DEC9-7BF012FABC53}"/>
              </a:ext>
            </a:extLst>
          </p:cNvPr>
          <p:cNvSpPr/>
          <p:nvPr/>
        </p:nvSpPr>
        <p:spPr>
          <a:xfrm>
            <a:off x="49495" y="4760917"/>
            <a:ext cx="1511561" cy="126095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Filename </a:t>
            </a:r>
            <a:r>
              <a:rPr lang="en-IN" sz="1200" dirty="0" err="1">
                <a:latin typeface="Bodoni MT" panose="02070603080606020203" pitchFamily="18" charset="0"/>
              </a:rPr>
              <a:t>FileHandler</a:t>
            </a:r>
            <a:r>
              <a:rPr lang="en-IN" sz="1200" dirty="0">
                <a:latin typeface="Bodoni MT" panose="02070603080606020203" pitchFamily="18" charset="0"/>
              </a:rPr>
              <a:t>.</a:t>
            </a:r>
            <a:endParaRPr lang="en-US" sz="1200" dirty="0">
              <a:latin typeface="Bodoni MT" panose="02070603080606020203" pitchFamily="18" charset="0"/>
            </a:endParaRPr>
          </a:p>
          <a:p>
            <a:pPr algn="ctr"/>
            <a:endParaRPr lang="en-IN" sz="1200" dirty="0">
              <a:latin typeface="Bodoni MT Black" panose="02070A03080606020203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4C1DDBC-02B4-D5A4-D100-10ACEC1A31E6}"/>
              </a:ext>
            </a:extLst>
          </p:cNvPr>
          <p:cNvSpPr/>
          <p:nvPr/>
        </p:nvSpPr>
        <p:spPr>
          <a:xfrm>
            <a:off x="376334" y="3429000"/>
            <a:ext cx="1511560" cy="75577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Level</a:t>
            </a:r>
          </a:p>
        </p:txBody>
      </p: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BDC233CD-381D-3A69-6CB1-A1CCB9B2938E}"/>
              </a:ext>
            </a:extLst>
          </p:cNvPr>
          <p:cNvCxnSpPr>
            <a:cxnSpLocks/>
            <a:stCxn id="52" idx="6"/>
            <a:endCxn id="8" idx="1"/>
          </p:cNvCxnSpPr>
          <p:nvPr/>
        </p:nvCxnSpPr>
        <p:spPr>
          <a:xfrm>
            <a:off x="1887894" y="3806890"/>
            <a:ext cx="760712" cy="43957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452A2FDB-018D-C674-1B3D-1D9C8C8CB5FF}"/>
              </a:ext>
            </a:extLst>
          </p:cNvPr>
          <p:cNvSpPr/>
          <p:nvPr/>
        </p:nvSpPr>
        <p:spPr>
          <a:xfrm>
            <a:off x="5322844" y="3907329"/>
            <a:ext cx="1511560" cy="75577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Handler</a:t>
            </a:r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D04EE8D0-3864-3AB0-36E0-2A6D5192AB1A}"/>
              </a:ext>
            </a:extLst>
          </p:cNvPr>
          <p:cNvCxnSpPr>
            <a:cxnSpLocks/>
            <a:stCxn id="4" idx="4"/>
            <a:endCxn id="77" idx="0"/>
          </p:cNvCxnSpPr>
          <p:nvPr/>
        </p:nvCxnSpPr>
        <p:spPr>
          <a:xfrm rot="16200000" flipH="1">
            <a:off x="5288022" y="3116726"/>
            <a:ext cx="1046787" cy="534417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22775EA-58DB-41C7-C7BC-7FC6B49FA00C}"/>
              </a:ext>
            </a:extLst>
          </p:cNvPr>
          <p:cNvSpPr/>
          <p:nvPr/>
        </p:nvSpPr>
        <p:spPr>
          <a:xfrm>
            <a:off x="8090927" y="3250431"/>
            <a:ext cx="4043804" cy="3365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dirty="0">
                <a:latin typeface="Bodoni MT" panose="02070603080606020203" pitchFamily="18" charset="0"/>
              </a:rPr>
              <a:t>import logging</a:t>
            </a:r>
          </a:p>
          <a:p>
            <a:endParaRPr lang="en-IN" sz="1000" dirty="0">
              <a:latin typeface="Bodoni MT" panose="02070603080606020203" pitchFamily="18" charset="0"/>
            </a:endParaRPr>
          </a:p>
          <a:p>
            <a:r>
              <a:rPr lang="en-IN" sz="1000" dirty="0">
                <a:latin typeface="Bodoni MT" panose="02070603080606020203" pitchFamily="18" charset="0"/>
              </a:rPr>
              <a:t>FORMAT = '%(name)s:%(</a:t>
            </a:r>
            <a:r>
              <a:rPr lang="en-IN" sz="1000" dirty="0" err="1">
                <a:latin typeface="Bodoni MT" panose="02070603080606020203" pitchFamily="18" charset="0"/>
              </a:rPr>
              <a:t>levelname</a:t>
            </a:r>
            <a:r>
              <a:rPr lang="en-IN" sz="1000" dirty="0">
                <a:latin typeface="Bodoni MT" panose="02070603080606020203" pitchFamily="18" charset="0"/>
              </a:rPr>
              <a:t>)s:%(</a:t>
            </a:r>
            <a:r>
              <a:rPr lang="en-IN" sz="1000" dirty="0" err="1">
                <a:latin typeface="Bodoni MT" panose="02070603080606020203" pitchFamily="18" charset="0"/>
              </a:rPr>
              <a:t>asctime</a:t>
            </a:r>
            <a:r>
              <a:rPr lang="en-IN" sz="1000" dirty="0">
                <a:latin typeface="Bodoni MT" panose="02070603080606020203" pitchFamily="18" charset="0"/>
              </a:rPr>
              <a:t>)s:%(message)s'</a:t>
            </a:r>
          </a:p>
          <a:p>
            <a:r>
              <a:rPr lang="en-IN" sz="1000" dirty="0">
                <a:latin typeface="Bodoni MT" panose="02070603080606020203" pitchFamily="18" charset="0"/>
              </a:rPr>
              <a:t>logger = </a:t>
            </a:r>
            <a:r>
              <a:rPr lang="en-IN" sz="1000" dirty="0" err="1">
                <a:latin typeface="Bodoni MT" panose="02070603080606020203" pitchFamily="18" charset="0"/>
              </a:rPr>
              <a:t>logging.getLogger</a:t>
            </a:r>
            <a:r>
              <a:rPr lang="en-IN" sz="1000" dirty="0">
                <a:latin typeface="Bodoni MT" panose="02070603080606020203" pitchFamily="18" charset="0"/>
              </a:rPr>
              <a:t>(__name__)</a:t>
            </a:r>
          </a:p>
          <a:p>
            <a:br>
              <a:rPr lang="en-IN" sz="1000" dirty="0">
                <a:latin typeface="Bodoni MT" panose="02070603080606020203" pitchFamily="18" charset="0"/>
              </a:rPr>
            </a:br>
            <a:r>
              <a:rPr lang="en-IN" sz="1000" dirty="0">
                <a:latin typeface="Bodoni MT" panose="02070603080606020203" pitchFamily="18" charset="0"/>
              </a:rPr>
              <a:t>handler = </a:t>
            </a:r>
            <a:r>
              <a:rPr lang="en-IN" sz="1000" dirty="0" err="1">
                <a:latin typeface="Bodoni MT" panose="02070603080606020203" pitchFamily="18" charset="0"/>
              </a:rPr>
              <a:t>logging.FileHandler</a:t>
            </a:r>
            <a:r>
              <a:rPr lang="en-IN" sz="1000" dirty="0">
                <a:latin typeface="Bodoni MT" panose="02070603080606020203" pitchFamily="18" charset="0"/>
              </a:rPr>
              <a:t>('prod.log', mode='w')</a:t>
            </a:r>
          </a:p>
          <a:p>
            <a:r>
              <a:rPr lang="en-IN" sz="1000" dirty="0" err="1">
                <a:latin typeface="Bodoni MT" panose="02070603080606020203" pitchFamily="18" charset="0"/>
              </a:rPr>
              <a:t>handler.setLevel</a:t>
            </a:r>
            <a:r>
              <a:rPr lang="en-IN" sz="1000" dirty="0">
                <a:latin typeface="Bodoni MT" panose="02070603080606020203" pitchFamily="18" charset="0"/>
              </a:rPr>
              <a:t>(</a:t>
            </a:r>
            <a:r>
              <a:rPr lang="en-IN" sz="1000" dirty="0" err="1">
                <a:latin typeface="Bodoni MT" panose="02070603080606020203" pitchFamily="18" charset="0"/>
              </a:rPr>
              <a:t>logging.CRITICAL</a:t>
            </a:r>
            <a:r>
              <a:rPr lang="en-IN" sz="1000" dirty="0">
                <a:latin typeface="Bodoni MT" panose="02070603080606020203" pitchFamily="18" charset="0"/>
              </a:rPr>
              <a:t>)</a:t>
            </a:r>
          </a:p>
          <a:p>
            <a:r>
              <a:rPr lang="en-IN" sz="1000" dirty="0">
                <a:latin typeface="Bodoni MT" panose="02070603080606020203" pitchFamily="18" charset="0"/>
              </a:rPr>
              <a:t>formatter = </a:t>
            </a:r>
            <a:r>
              <a:rPr lang="en-IN" sz="1000" dirty="0" err="1">
                <a:latin typeface="Bodoni MT" panose="02070603080606020203" pitchFamily="18" charset="0"/>
              </a:rPr>
              <a:t>logging.Formatter</a:t>
            </a:r>
            <a:r>
              <a:rPr lang="en-IN" sz="1000" dirty="0">
                <a:latin typeface="Bodoni MT" panose="02070603080606020203" pitchFamily="18" charset="0"/>
              </a:rPr>
              <a:t>(FORMAT)</a:t>
            </a:r>
          </a:p>
          <a:p>
            <a:r>
              <a:rPr lang="en-IN" sz="1000" dirty="0" err="1">
                <a:latin typeface="Bodoni MT" panose="02070603080606020203" pitchFamily="18" charset="0"/>
              </a:rPr>
              <a:t>handler.setFormatter</a:t>
            </a:r>
            <a:r>
              <a:rPr lang="en-IN" sz="1000" dirty="0">
                <a:latin typeface="Bodoni MT" panose="02070603080606020203" pitchFamily="18" charset="0"/>
              </a:rPr>
              <a:t>(formatter)</a:t>
            </a:r>
          </a:p>
          <a:p>
            <a:r>
              <a:rPr lang="en-IN" sz="1000" dirty="0" err="1">
                <a:latin typeface="Bodoni MT" panose="02070603080606020203" pitchFamily="18" charset="0"/>
              </a:rPr>
              <a:t>logger.addHandler</a:t>
            </a:r>
            <a:r>
              <a:rPr lang="en-IN" sz="1000" dirty="0">
                <a:latin typeface="Bodoni MT" panose="02070603080606020203" pitchFamily="18" charset="0"/>
              </a:rPr>
              <a:t>(handler)</a:t>
            </a:r>
          </a:p>
          <a:p>
            <a:endParaRPr lang="en-IN" sz="1000" dirty="0">
              <a:latin typeface="Bodoni MT" panose="02070603080606020203" pitchFamily="18" charset="0"/>
            </a:endParaRPr>
          </a:p>
          <a:p>
            <a:r>
              <a:rPr lang="en-IN" sz="1000" dirty="0" err="1">
                <a:latin typeface="Bodoni MT" panose="02070603080606020203" pitchFamily="18" charset="0"/>
              </a:rPr>
              <a:t>logger.critical</a:t>
            </a:r>
            <a:r>
              <a:rPr lang="en-IN" sz="1000" dirty="0">
                <a:latin typeface="Bodoni MT" panose="02070603080606020203" pitchFamily="18" charset="0"/>
              </a:rPr>
              <a:t>('Your CRITICAL message')</a:t>
            </a:r>
          </a:p>
          <a:p>
            <a:r>
              <a:rPr lang="en-IN" sz="1000" dirty="0" err="1">
                <a:latin typeface="Bodoni MT" panose="02070603080606020203" pitchFamily="18" charset="0"/>
              </a:rPr>
              <a:t>logger.error</a:t>
            </a:r>
            <a:r>
              <a:rPr lang="en-IN" sz="1000" dirty="0">
                <a:latin typeface="Bodoni MT" panose="02070603080606020203" pitchFamily="18" charset="0"/>
              </a:rPr>
              <a:t>('Your ERROR message')</a:t>
            </a:r>
          </a:p>
          <a:p>
            <a:r>
              <a:rPr lang="en-IN" sz="1000" dirty="0" err="1">
                <a:latin typeface="Bodoni MT" panose="02070603080606020203" pitchFamily="18" charset="0"/>
              </a:rPr>
              <a:t>logger.warning</a:t>
            </a:r>
            <a:r>
              <a:rPr lang="en-IN" sz="1000" dirty="0">
                <a:latin typeface="Bodoni MT" panose="02070603080606020203" pitchFamily="18" charset="0"/>
              </a:rPr>
              <a:t>('Your WARNING message')</a:t>
            </a:r>
          </a:p>
          <a:p>
            <a:r>
              <a:rPr lang="en-IN" sz="1000" dirty="0">
                <a:latin typeface="Bodoni MT" panose="02070603080606020203" pitchFamily="18" charset="0"/>
              </a:rPr>
              <a:t>logger.info('Your INFO message')</a:t>
            </a:r>
          </a:p>
          <a:p>
            <a:r>
              <a:rPr lang="en-IN" sz="1000" dirty="0" err="1">
                <a:latin typeface="Bodoni MT" panose="02070603080606020203" pitchFamily="18" charset="0"/>
              </a:rPr>
              <a:t>logger.debug</a:t>
            </a:r>
            <a:r>
              <a:rPr lang="en-IN" sz="1000" dirty="0">
                <a:latin typeface="Bodoni MT" panose="02070603080606020203" pitchFamily="18" charset="0"/>
              </a:rPr>
              <a:t>('Your DEBUG message')</a:t>
            </a:r>
          </a:p>
          <a:p>
            <a:endParaRPr lang="en-IN" sz="1000" dirty="0">
              <a:latin typeface="Bodoni MT" panose="02070603080606020203" pitchFamily="18" charset="0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91A9E2F-9559-0C6E-2974-3B17BFD1E06D}"/>
              </a:ext>
            </a:extLst>
          </p:cNvPr>
          <p:cNvSpPr/>
          <p:nvPr/>
        </p:nvSpPr>
        <p:spPr>
          <a:xfrm>
            <a:off x="6579367" y="2671226"/>
            <a:ext cx="1511560" cy="75577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Bodoni MT Black" panose="02070A03080606020203" pitchFamily="18" charset="0"/>
              </a:rPr>
              <a:t>Formatter</a:t>
            </a:r>
          </a:p>
        </p:txBody>
      </p:sp>
      <p:cxnSp>
        <p:nvCxnSpPr>
          <p:cNvPr id="118" name="Connector: Curved 117">
            <a:extLst>
              <a:ext uri="{FF2B5EF4-FFF2-40B4-BE49-F238E27FC236}">
                <a16:creationId xmlns:a16="http://schemas.microsoft.com/office/drawing/2014/main" id="{A088CE03-09A5-6D17-DAA0-5192706071AB}"/>
              </a:ext>
            </a:extLst>
          </p:cNvPr>
          <p:cNvCxnSpPr>
            <a:cxnSpLocks/>
            <a:stCxn id="4" idx="5"/>
            <a:endCxn id="111" idx="2"/>
          </p:cNvCxnSpPr>
          <p:nvPr/>
        </p:nvCxnSpPr>
        <p:spPr>
          <a:xfrm rot="16200000" flipH="1">
            <a:off x="6179368" y="2649116"/>
            <a:ext cx="299255" cy="500743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BAA58EEE-7EE7-99E0-D9C7-A382E54681B9}"/>
              </a:ext>
            </a:extLst>
          </p:cNvPr>
          <p:cNvCxnSpPr>
            <a:cxnSpLocks/>
            <a:stCxn id="77" idx="6"/>
            <a:endCxn id="106" idx="1"/>
          </p:cNvCxnSpPr>
          <p:nvPr/>
        </p:nvCxnSpPr>
        <p:spPr>
          <a:xfrm>
            <a:off x="6834404" y="4285219"/>
            <a:ext cx="1256523" cy="647833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Curved 125">
            <a:extLst>
              <a:ext uri="{FF2B5EF4-FFF2-40B4-BE49-F238E27FC236}">
                <a16:creationId xmlns:a16="http://schemas.microsoft.com/office/drawing/2014/main" id="{833D1FDE-5CD6-E9FD-4646-74180DD59070}"/>
              </a:ext>
            </a:extLst>
          </p:cNvPr>
          <p:cNvCxnSpPr>
            <a:cxnSpLocks/>
            <a:stCxn id="111" idx="7"/>
            <a:endCxn id="106" idx="0"/>
          </p:cNvCxnSpPr>
          <p:nvPr/>
        </p:nvCxnSpPr>
        <p:spPr>
          <a:xfrm rot="16200000" flipH="1">
            <a:off x="8756934" y="1894537"/>
            <a:ext cx="468524" cy="2243265"/>
          </a:xfrm>
          <a:prstGeom prst="curvedConnector3">
            <a:avLst>
              <a:gd name="adj1" fmla="val -7241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2B662FD0-BD2A-C060-6A9D-D0F731BF1E63}"/>
              </a:ext>
            </a:extLst>
          </p:cNvPr>
          <p:cNvSpPr txBox="1"/>
          <p:nvPr/>
        </p:nvSpPr>
        <p:spPr>
          <a:xfrm>
            <a:off x="9800171" y="2432225"/>
            <a:ext cx="1981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Bodoni MT" panose="02070603080606020203" pitchFamily="18" charset="0"/>
              </a:rPr>
              <a:t>The formatter is crated and mapped to the handler</a:t>
            </a:r>
          </a:p>
        </p:txBody>
      </p:sp>
    </p:spTree>
    <p:extLst>
      <p:ext uri="{BB962C8B-B14F-4D97-AF65-F5344CB8AC3E}">
        <p14:creationId xmlns:p14="http://schemas.microsoft.com/office/powerpoint/2010/main" val="350848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2C3BCF0-242F-276A-843A-393DC404A0DE}"/>
              </a:ext>
            </a:extLst>
          </p:cNvPr>
          <p:cNvSpPr/>
          <p:nvPr/>
        </p:nvSpPr>
        <p:spPr>
          <a:xfrm>
            <a:off x="4777273" y="3321699"/>
            <a:ext cx="2108719" cy="1184988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ConfigParser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71C0E9-3B6F-38BB-50C8-AF08B2BFAED0}"/>
              </a:ext>
            </a:extLst>
          </p:cNvPr>
          <p:cNvSpPr/>
          <p:nvPr/>
        </p:nvSpPr>
        <p:spPr>
          <a:xfrm>
            <a:off x="8257592" y="102637"/>
            <a:ext cx="3853542" cy="202474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100" dirty="0">
                <a:latin typeface="Bodoni MT Black" panose="02070A03080606020203" pitchFamily="18" charset="0"/>
              </a:rPr>
              <a:t>import </a:t>
            </a:r>
            <a:r>
              <a:rPr lang="en-IN" sz="1100" dirty="0" err="1">
                <a:latin typeface="Bodoni MT Black" panose="02070A03080606020203" pitchFamily="18" charset="0"/>
              </a:rPr>
              <a:t>configparser</a:t>
            </a:r>
            <a:endParaRPr lang="en-IN" sz="1100" dirty="0">
              <a:latin typeface="Bodoni MT Black" panose="02070A03080606020203" pitchFamily="18" charset="0"/>
            </a:endParaRPr>
          </a:p>
          <a:p>
            <a:endParaRPr lang="en-IN" sz="1100" dirty="0">
              <a:latin typeface="Bodoni MT Black" panose="02070A03080606020203" pitchFamily="18" charset="0"/>
            </a:endParaRPr>
          </a:p>
          <a:p>
            <a:r>
              <a:rPr lang="en-IN" sz="1100" dirty="0">
                <a:latin typeface="Bodoni MT Black" panose="02070A03080606020203" pitchFamily="18" charset="0"/>
              </a:rPr>
              <a:t>config = </a:t>
            </a:r>
            <a:r>
              <a:rPr lang="en-IN" sz="1100" dirty="0" err="1">
                <a:latin typeface="Bodoni MT Black" panose="02070A03080606020203" pitchFamily="18" charset="0"/>
              </a:rPr>
              <a:t>configparser.ConfigParser</a:t>
            </a:r>
            <a:r>
              <a:rPr lang="en-IN" sz="1100" dirty="0">
                <a:latin typeface="Bodoni MT Black" panose="02070A03080606020203" pitchFamily="18" charset="0"/>
              </a:rPr>
              <a:t>()</a:t>
            </a:r>
          </a:p>
          <a:p>
            <a:r>
              <a:rPr lang="en-IN" sz="1100" dirty="0">
                <a:latin typeface="Bodoni MT Black" panose="02070A03080606020203" pitchFamily="18" charset="0"/>
              </a:rPr>
              <a:t>print(</a:t>
            </a:r>
            <a:r>
              <a:rPr lang="en-IN" sz="1100" dirty="0" err="1">
                <a:latin typeface="Bodoni MT Black" panose="02070A03080606020203" pitchFamily="18" charset="0"/>
              </a:rPr>
              <a:t>config.read</a:t>
            </a:r>
            <a:r>
              <a:rPr lang="en-IN" sz="1100" dirty="0">
                <a:latin typeface="Bodoni MT Black" panose="02070A03080606020203" pitchFamily="18" charset="0"/>
              </a:rPr>
              <a:t>('config.ini'))</a:t>
            </a:r>
          </a:p>
          <a:p>
            <a:endParaRPr lang="en-IN" sz="1100" dirty="0">
              <a:latin typeface="Bodoni MT Black" panose="02070A03080606020203" pitchFamily="18" charset="0"/>
            </a:endParaRPr>
          </a:p>
          <a:p>
            <a:r>
              <a:rPr lang="en-IN" sz="1100" dirty="0">
                <a:latin typeface="Bodoni MT Black" panose="02070A03080606020203" pitchFamily="18" charset="0"/>
              </a:rPr>
              <a:t>print('Sections:', </a:t>
            </a:r>
            <a:r>
              <a:rPr lang="en-IN" sz="1100" dirty="0" err="1">
                <a:latin typeface="Bodoni MT Black" panose="02070A03080606020203" pitchFamily="18" charset="0"/>
              </a:rPr>
              <a:t>config.sections</a:t>
            </a:r>
            <a:r>
              <a:rPr lang="en-IN" sz="1100" dirty="0">
                <a:latin typeface="Bodoni MT Black" panose="02070A03080606020203" pitchFamily="18" charset="0"/>
              </a:rPr>
              <a:t>(),'\n')</a:t>
            </a:r>
          </a:p>
          <a:p>
            <a:endParaRPr lang="en-IN" sz="1100" dirty="0">
              <a:latin typeface="Bodoni MT Black" panose="02070A03080606020203" pitchFamily="18" charset="0"/>
            </a:endParaRPr>
          </a:p>
          <a:p>
            <a:r>
              <a:rPr lang="en-IN" sz="1100" dirty="0">
                <a:latin typeface="Bodoni MT Black" panose="02070A03080606020203" pitchFamily="18" charset="0"/>
              </a:rPr>
              <a:t>print('</a:t>
            </a:r>
            <a:r>
              <a:rPr lang="en-IN" sz="1100" dirty="0" err="1">
                <a:latin typeface="Bodoni MT Black" panose="02070A03080606020203" pitchFamily="18" charset="0"/>
              </a:rPr>
              <a:t>mariadb</a:t>
            </a:r>
            <a:r>
              <a:rPr lang="en-IN" sz="1100" dirty="0">
                <a:latin typeface="Bodoni MT Black" panose="02070A03080606020203" pitchFamily="18" charset="0"/>
              </a:rPr>
              <a:t> section:')</a:t>
            </a:r>
          </a:p>
          <a:p>
            <a:r>
              <a:rPr lang="en-IN" sz="1100" dirty="0">
                <a:latin typeface="Bodoni MT Black" panose="02070A03080606020203" pitchFamily="18" charset="0"/>
              </a:rPr>
              <a:t>print('Host:', config['</a:t>
            </a:r>
            <a:r>
              <a:rPr lang="en-IN" sz="1100" dirty="0" err="1">
                <a:latin typeface="Bodoni MT Black" panose="02070A03080606020203" pitchFamily="18" charset="0"/>
              </a:rPr>
              <a:t>mariadb</a:t>
            </a:r>
            <a:r>
              <a:rPr lang="en-IN" sz="1100" dirty="0">
                <a:latin typeface="Bodoni MT Black" panose="02070A03080606020203" pitchFamily="18" charset="0"/>
              </a:rPr>
              <a:t>']['host'])</a:t>
            </a:r>
          </a:p>
          <a:p>
            <a:r>
              <a:rPr lang="en-IN" sz="1100" dirty="0">
                <a:latin typeface="Bodoni MT Black" panose="02070A03080606020203" pitchFamily="18" charset="0"/>
              </a:rPr>
              <a:t>print('Database:', config['</a:t>
            </a:r>
            <a:r>
              <a:rPr lang="en-IN" sz="1100" dirty="0" err="1">
                <a:latin typeface="Bodoni MT Black" panose="02070A03080606020203" pitchFamily="18" charset="0"/>
              </a:rPr>
              <a:t>mariadb</a:t>
            </a:r>
            <a:r>
              <a:rPr lang="en-IN" sz="1100" dirty="0">
                <a:latin typeface="Bodoni MT Black" panose="02070A03080606020203" pitchFamily="18" charset="0"/>
              </a:rPr>
              <a:t>']['name'])</a:t>
            </a:r>
          </a:p>
          <a:p>
            <a:r>
              <a:rPr lang="en-IN" sz="1100" dirty="0">
                <a:latin typeface="Bodoni MT Black" panose="02070A03080606020203" pitchFamily="18" charset="0"/>
              </a:rPr>
              <a:t>print('Username:', config['</a:t>
            </a:r>
            <a:r>
              <a:rPr lang="en-IN" sz="1100" dirty="0" err="1">
                <a:latin typeface="Bodoni MT Black" panose="02070A03080606020203" pitchFamily="18" charset="0"/>
              </a:rPr>
              <a:t>mariadb</a:t>
            </a:r>
            <a:r>
              <a:rPr lang="en-IN" sz="1100" dirty="0">
                <a:latin typeface="Bodoni MT Black" panose="02070A03080606020203" pitchFamily="18" charset="0"/>
              </a:rPr>
              <a:t>']['user'])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35BB28-B559-4C68-9F2A-CB23E617273B}"/>
              </a:ext>
            </a:extLst>
          </p:cNvPr>
          <p:cNvSpPr/>
          <p:nvPr/>
        </p:nvSpPr>
        <p:spPr>
          <a:xfrm>
            <a:off x="6195527" y="102637"/>
            <a:ext cx="1660849" cy="2024744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800" dirty="0">
                <a:latin typeface="Bodoni MT Condensed" panose="02070606080606020203" pitchFamily="18" charset="0"/>
              </a:rPr>
              <a:t>[DEFAULT]</a:t>
            </a:r>
          </a:p>
          <a:p>
            <a:r>
              <a:rPr lang="en-IN" sz="800" dirty="0">
                <a:latin typeface="Bodoni MT Condensed" panose="02070606080606020203" pitchFamily="18" charset="0"/>
              </a:rPr>
              <a:t>host = localhost # This is a comment.</a:t>
            </a:r>
          </a:p>
          <a:p>
            <a:br>
              <a:rPr lang="en-IN" sz="800" dirty="0">
                <a:latin typeface="Bodoni MT Condensed" panose="02070606080606020203" pitchFamily="18" charset="0"/>
              </a:rPr>
            </a:br>
            <a:endParaRPr lang="en-IN" sz="800" dirty="0">
              <a:latin typeface="Bodoni MT Condensed" panose="02070606080606020203" pitchFamily="18" charset="0"/>
            </a:endParaRPr>
          </a:p>
          <a:p>
            <a:r>
              <a:rPr lang="en-IN" sz="800" dirty="0">
                <a:latin typeface="Bodoni MT Condensed" panose="02070606080606020203" pitchFamily="18" charset="0"/>
              </a:rPr>
              <a:t>[</a:t>
            </a:r>
            <a:r>
              <a:rPr lang="en-IN" sz="800" dirty="0" err="1">
                <a:latin typeface="Bodoni MT Condensed" panose="02070606080606020203" pitchFamily="18" charset="0"/>
              </a:rPr>
              <a:t>mariadb</a:t>
            </a:r>
            <a:r>
              <a:rPr lang="en-IN" sz="800" dirty="0">
                <a:latin typeface="Bodoni MT Condensed" panose="02070606080606020203" pitchFamily="18" charset="0"/>
              </a:rPr>
              <a:t>]</a:t>
            </a:r>
          </a:p>
          <a:p>
            <a:r>
              <a:rPr lang="en-IN" sz="800" dirty="0">
                <a:latin typeface="Bodoni MT Condensed" panose="02070606080606020203" pitchFamily="18" charset="0"/>
              </a:rPr>
              <a:t>name = hello</a:t>
            </a:r>
          </a:p>
          <a:p>
            <a:r>
              <a:rPr lang="en-IN" sz="800" dirty="0">
                <a:latin typeface="Bodoni MT Condensed" panose="02070606080606020203" pitchFamily="18" charset="0"/>
              </a:rPr>
              <a:t>user = user</a:t>
            </a:r>
          </a:p>
          <a:p>
            <a:r>
              <a:rPr lang="en-IN" sz="800" dirty="0">
                <a:latin typeface="Bodoni MT Condensed" panose="02070606080606020203" pitchFamily="18" charset="0"/>
              </a:rPr>
              <a:t>password = password</a:t>
            </a:r>
          </a:p>
          <a:p>
            <a:br>
              <a:rPr lang="en-IN" sz="800" dirty="0">
                <a:latin typeface="Bodoni MT Condensed" panose="02070606080606020203" pitchFamily="18" charset="0"/>
              </a:rPr>
            </a:br>
            <a:endParaRPr lang="en-IN" sz="800" dirty="0">
              <a:latin typeface="Bodoni MT Condensed" panose="02070606080606020203" pitchFamily="18" charset="0"/>
            </a:endParaRPr>
          </a:p>
          <a:p>
            <a:r>
              <a:rPr lang="en-IN" sz="800" dirty="0">
                <a:latin typeface="Bodoni MT Condensed" panose="02070606080606020203" pitchFamily="18" charset="0"/>
              </a:rPr>
              <a:t>[</a:t>
            </a:r>
            <a:r>
              <a:rPr lang="en-IN" sz="800" dirty="0" err="1">
                <a:latin typeface="Bodoni MT Condensed" panose="02070606080606020203" pitchFamily="18" charset="0"/>
              </a:rPr>
              <a:t>redis</a:t>
            </a:r>
            <a:r>
              <a:rPr lang="en-IN" sz="800" dirty="0">
                <a:latin typeface="Bodoni MT Condensed" panose="02070606080606020203" pitchFamily="18" charset="0"/>
              </a:rPr>
              <a:t>]</a:t>
            </a:r>
          </a:p>
          <a:p>
            <a:r>
              <a:rPr lang="en-IN" sz="800" dirty="0">
                <a:latin typeface="Bodoni MT Condensed" panose="02070606080606020203" pitchFamily="18" charset="0"/>
              </a:rPr>
              <a:t>port = 6379</a:t>
            </a:r>
          </a:p>
          <a:p>
            <a:r>
              <a:rPr lang="en-IN" sz="800" dirty="0" err="1">
                <a:latin typeface="Bodoni MT Condensed" panose="02070606080606020203" pitchFamily="18" charset="0"/>
              </a:rPr>
              <a:t>db</a:t>
            </a:r>
            <a:r>
              <a:rPr lang="en-IN" sz="800" dirty="0">
                <a:latin typeface="Bodoni MT Condensed" panose="02070606080606020203" pitchFamily="18" charset="0"/>
              </a:rPr>
              <a:t> = 0</a:t>
            </a:r>
          </a:p>
          <a:p>
            <a:endParaRPr lang="en-IN" sz="800" dirty="0">
              <a:latin typeface="Bodoni MT Condensed" panose="02070606080606020203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F0751B-4666-143C-4013-F05ECBF7B721}"/>
              </a:ext>
            </a:extLst>
          </p:cNvPr>
          <p:cNvGrpSpPr/>
          <p:nvPr/>
        </p:nvGrpSpPr>
        <p:grpSpPr>
          <a:xfrm>
            <a:off x="856034" y="3774332"/>
            <a:ext cx="2295728" cy="2811294"/>
            <a:chOff x="856034" y="1235413"/>
            <a:chExt cx="2295728" cy="535021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3CC6621-B551-BC4A-8465-B5AFB71E89ED}"/>
                </a:ext>
              </a:extLst>
            </p:cNvPr>
            <p:cNvSpPr/>
            <p:nvPr/>
          </p:nvSpPr>
          <p:spPr>
            <a:xfrm>
              <a:off x="856034" y="1235413"/>
              <a:ext cx="2295728" cy="535021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56E19A9-B37C-1523-71EF-CF4AF384C7ED}"/>
                </a:ext>
              </a:extLst>
            </p:cNvPr>
            <p:cNvGrpSpPr/>
            <p:nvPr/>
          </p:nvGrpSpPr>
          <p:grpSpPr>
            <a:xfrm>
              <a:off x="974949" y="2041385"/>
              <a:ext cx="2108720" cy="4360936"/>
              <a:chOff x="1746205" y="1974549"/>
              <a:chExt cx="2108720" cy="436093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801B576-D627-9BE3-1711-E88D28AA0D20}"/>
                  </a:ext>
                </a:extLst>
              </p:cNvPr>
              <p:cNvSpPr/>
              <p:nvPr/>
            </p:nvSpPr>
            <p:spPr>
              <a:xfrm>
                <a:off x="1746205" y="3562523"/>
                <a:ext cx="2108719" cy="118498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read_dict</a:t>
                </a:r>
                <a:endParaRPr lang="en-IN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3A1BBE7-FD43-8513-2751-6D5BBF0CA121}"/>
                  </a:ext>
                </a:extLst>
              </p:cNvPr>
              <p:cNvSpPr/>
              <p:nvPr/>
            </p:nvSpPr>
            <p:spPr>
              <a:xfrm>
                <a:off x="1746206" y="5150497"/>
                <a:ext cx="2108719" cy="118498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read_string</a:t>
                </a:r>
                <a:endParaRPr lang="en-IN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C7957CA-AF35-60A8-76F2-D41B94D122DE}"/>
                  </a:ext>
                </a:extLst>
              </p:cNvPr>
              <p:cNvSpPr/>
              <p:nvPr/>
            </p:nvSpPr>
            <p:spPr>
              <a:xfrm>
                <a:off x="1746205" y="1974549"/>
                <a:ext cx="2108719" cy="1184988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read_file</a:t>
                </a:r>
                <a:endParaRPr lang="en-IN" dirty="0"/>
              </a:p>
            </p:txBody>
          </p:sp>
        </p:grp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37D76C3F-59BF-DA00-DE48-7200036C27EB}"/>
              </a:ext>
            </a:extLst>
          </p:cNvPr>
          <p:cNvSpPr/>
          <p:nvPr/>
        </p:nvSpPr>
        <p:spPr>
          <a:xfrm>
            <a:off x="7025951" y="5226730"/>
            <a:ext cx="2881637" cy="1184988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latin typeface="Cambria" panose="02040503050406030204" pitchFamily="18" charset="0"/>
                <a:ea typeface="Cambria" panose="02040503050406030204" pitchFamily="18" charset="0"/>
              </a:rPr>
              <a:t>Interpolating values</a:t>
            </a:r>
            <a:endParaRPr lang="en-IN" sz="105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br>
              <a:rPr lang="en-US" sz="1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000" dirty="0">
                <a:latin typeface="Cambria" panose="02040503050406030204" pitchFamily="18" charset="0"/>
                <a:ea typeface="Cambria" panose="02040503050406030204" pitchFamily="18" charset="0"/>
              </a:rPr>
              <a:t>It allows you to create expressions consisting of a placeholder under which the appropriate value will be substituted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B3415E-C0EF-DA11-51E5-67B479AAF8DC}"/>
              </a:ext>
            </a:extLst>
          </p:cNvPr>
          <p:cNvSpPr/>
          <p:nvPr/>
        </p:nvSpPr>
        <p:spPr>
          <a:xfrm>
            <a:off x="10048176" y="2536531"/>
            <a:ext cx="1660849" cy="218707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[DEFAULT] </a:t>
            </a: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host = localhost </a:t>
            </a:r>
          </a:p>
          <a:p>
            <a:endParaRPr lang="en-IN" sz="1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sz="1000" dirty="0" err="1">
                <a:latin typeface="Cambria" panose="02040503050406030204" pitchFamily="18" charset="0"/>
                <a:ea typeface="Cambria" panose="02040503050406030204" pitchFamily="18" charset="0"/>
              </a:rPr>
              <a:t>mariadb</a:t>
            </a:r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] </a:t>
            </a: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name = hello </a:t>
            </a: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user = user </a:t>
            </a: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password = password </a:t>
            </a:r>
          </a:p>
          <a:p>
            <a:endParaRPr lang="en-IN" sz="1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IN" sz="1000" dirty="0" err="1">
                <a:latin typeface="Cambria" panose="02040503050406030204" pitchFamily="18" charset="0"/>
                <a:ea typeface="Cambria" panose="02040503050406030204" pitchFamily="18" charset="0"/>
              </a:rPr>
              <a:t>redis</a:t>
            </a:r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] </a:t>
            </a:r>
          </a:p>
          <a:p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port = 6379 </a:t>
            </a:r>
          </a:p>
          <a:p>
            <a:r>
              <a:rPr lang="en-IN" sz="1000" dirty="0" err="1">
                <a:latin typeface="Cambria" panose="02040503050406030204" pitchFamily="18" charset="0"/>
                <a:ea typeface="Cambria" panose="02040503050406030204" pitchFamily="18" charset="0"/>
              </a:rPr>
              <a:t>db</a:t>
            </a:r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 = 0 </a:t>
            </a:r>
          </a:p>
          <a:p>
            <a:r>
              <a:rPr lang="en-IN" sz="1000" dirty="0" err="1">
                <a:latin typeface="Cambria" panose="02040503050406030204" pitchFamily="18" charset="0"/>
                <a:ea typeface="Cambria" panose="02040503050406030204" pitchFamily="18" charset="0"/>
              </a:rPr>
              <a:t>dsn</a:t>
            </a:r>
            <a: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  <a:t> = redis://%(host)s </a:t>
            </a:r>
          </a:p>
          <a:p>
            <a:br>
              <a:rPr lang="en-IN" sz="1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49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5F4595B-EE7D-6CF3-62F1-FA65654D3ABB}"/>
              </a:ext>
            </a:extLst>
          </p:cNvPr>
          <p:cNvSpPr/>
          <p:nvPr/>
        </p:nvSpPr>
        <p:spPr>
          <a:xfrm>
            <a:off x="4542816" y="1342417"/>
            <a:ext cx="2480553" cy="29280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OOPS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3371CC-D544-930D-6545-E2359F6D63C2}"/>
              </a:ext>
            </a:extLst>
          </p:cNvPr>
          <p:cNvSpPr/>
          <p:nvPr/>
        </p:nvSpPr>
        <p:spPr>
          <a:xfrm>
            <a:off x="820363" y="425585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Classses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EF0653-3AC8-DF44-3D61-0045B9823F46}"/>
              </a:ext>
            </a:extLst>
          </p:cNvPr>
          <p:cNvSpPr/>
          <p:nvPr/>
        </p:nvSpPr>
        <p:spPr>
          <a:xfrm>
            <a:off x="7232514" y="2305456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polymorphism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B391F4-6159-CD88-BD09-5D74452B64BD}"/>
              </a:ext>
            </a:extLst>
          </p:cNvPr>
          <p:cNvSpPr/>
          <p:nvPr/>
        </p:nvSpPr>
        <p:spPr>
          <a:xfrm>
            <a:off x="7577847" y="671209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E792A4-5B90-D737-D0EE-03BA9CCC517C}"/>
              </a:ext>
            </a:extLst>
          </p:cNvPr>
          <p:cNvSpPr/>
          <p:nvPr/>
        </p:nvSpPr>
        <p:spPr>
          <a:xfrm>
            <a:off x="9017540" y="1816641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special methods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780C82-5EC4-F678-ABDB-D1D4DD584161}"/>
              </a:ext>
            </a:extLst>
          </p:cNvPr>
          <p:cNvSpPr/>
          <p:nvPr/>
        </p:nvSpPr>
        <p:spPr>
          <a:xfrm>
            <a:off x="9786027" y="425586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static and class 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CFD4AB-0DE8-3727-0575-5E4D92CF5A87}"/>
              </a:ext>
            </a:extLst>
          </p:cNvPr>
          <p:cNvSpPr/>
          <p:nvPr/>
        </p:nvSpPr>
        <p:spPr>
          <a:xfrm>
            <a:off x="3831075" y="74579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method overriding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2336FD-6295-08F3-5B13-B04A85EA82FD}"/>
              </a:ext>
            </a:extLst>
          </p:cNvPr>
          <p:cNvSpPr/>
          <p:nvPr/>
        </p:nvSpPr>
        <p:spPr>
          <a:xfrm>
            <a:off x="4972455" y="5217269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advanced exception handling techniques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65E69F-C603-604E-8BFF-3306B1F7FE1E}"/>
              </a:ext>
            </a:extLst>
          </p:cNvPr>
          <p:cNvSpPr/>
          <p:nvPr/>
        </p:nvSpPr>
        <p:spPr>
          <a:xfrm>
            <a:off x="9766571" y="3557082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abstract classes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DB962-09B5-1825-02AC-F0D0F1C34D47}"/>
              </a:ext>
            </a:extLst>
          </p:cNvPr>
          <p:cNvSpPr/>
          <p:nvPr/>
        </p:nvSpPr>
        <p:spPr>
          <a:xfrm>
            <a:off x="9536349" y="4821678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shallow and deep operation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02F9ED-A4FF-16C4-A9CB-85E97E75291A}"/>
              </a:ext>
            </a:extLst>
          </p:cNvPr>
          <p:cNvSpPr/>
          <p:nvPr/>
        </p:nvSpPr>
        <p:spPr>
          <a:xfrm>
            <a:off x="1395918" y="2989635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methods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95FEA6-039D-6F69-C3A9-2655C4217F1A}"/>
              </a:ext>
            </a:extLst>
          </p:cNvPr>
          <p:cNvSpPr/>
          <p:nvPr/>
        </p:nvSpPr>
        <p:spPr>
          <a:xfrm>
            <a:off x="732006" y="4604427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attributes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9344E6-B58C-030A-FDCB-F91188E4674E}"/>
              </a:ext>
            </a:extLst>
          </p:cNvPr>
          <p:cNvSpPr/>
          <p:nvPr/>
        </p:nvSpPr>
        <p:spPr>
          <a:xfrm>
            <a:off x="7441660" y="3728937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instances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5E0F15-DB83-FAB2-C05A-31EBDAE4FAF0}"/>
              </a:ext>
            </a:extLst>
          </p:cNvPr>
          <p:cNvSpPr/>
          <p:nvPr/>
        </p:nvSpPr>
        <p:spPr>
          <a:xfrm>
            <a:off x="7808068" y="5217269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OOPS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33E303-57B5-1060-4CA2-F7323EB806F6}"/>
              </a:ext>
            </a:extLst>
          </p:cNvPr>
          <p:cNvSpPr/>
          <p:nvPr/>
        </p:nvSpPr>
        <p:spPr>
          <a:xfrm>
            <a:off x="3273358" y="3892686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encapsulation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B8B8EE-6E64-7DBF-1128-47B693255D8E}"/>
              </a:ext>
            </a:extLst>
          </p:cNvPr>
          <p:cNvSpPr/>
          <p:nvPr/>
        </p:nvSpPr>
        <p:spPr>
          <a:xfrm>
            <a:off x="2690508" y="5131341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the pickle and shelve modules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C1FF93-24C4-329A-E76E-B51E3FE0D6B0}"/>
              </a:ext>
            </a:extLst>
          </p:cNvPr>
          <p:cNvSpPr/>
          <p:nvPr/>
        </p:nvSpPr>
        <p:spPr>
          <a:xfrm>
            <a:off x="2412457" y="1707610"/>
            <a:ext cx="1958502" cy="1238655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metaclasses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24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7AD012-ABEA-47E5-D132-D00124E86001}"/>
              </a:ext>
            </a:extLst>
          </p:cNvPr>
          <p:cNvSpPr/>
          <p:nvPr/>
        </p:nvSpPr>
        <p:spPr>
          <a:xfrm>
            <a:off x="3534075" y="3370225"/>
            <a:ext cx="1313235" cy="1391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OOPS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C379F7-3792-B96C-012B-FAC6DD0DD96F}"/>
              </a:ext>
            </a:extLst>
          </p:cNvPr>
          <p:cNvSpPr/>
          <p:nvPr/>
        </p:nvSpPr>
        <p:spPr>
          <a:xfrm>
            <a:off x="8787318" y="0"/>
            <a:ext cx="3404681" cy="1313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A </a:t>
            </a:r>
            <a:r>
              <a:rPr lang="en-US" sz="1050" b="1" dirty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 expresses an idea; it’s a blueprint or recipe for an instance. The class is something virtual, it can contain lots of different details, and there is always one class of any given type. Think of a class as a building blueprint that represents the architect’s ideas, and class instances as the actual buildings.</a:t>
            </a:r>
            <a:endParaRPr lang="en-IN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69229B-6CF7-060F-FF12-4F5EB798087B}"/>
              </a:ext>
            </a:extLst>
          </p:cNvPr>
          <p:cNvSpPr/>
          <p:nvPr/>
        </p:nvSpPr>
        <p:spPr>
          <a:xfrm>
            <a:off x="8787319" y="3119336"/>
            <a:ext cx="3404681" cy="37386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An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instance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 is one particular physical instantiation of a class that occupies memory and has data elements. This is what 'self' refers to when we deal with class instances.</a:t>
            </a:r>
          </a:p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An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 is everything in Python that you can operate on, like a class, instance, list, or dictionary.</a:t>
            </a:r>
          </a:p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The term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instance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 is very often used interchangeably with the term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, because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 refers to a particular instance of a class. It’s a bit of a simplification, because the term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 is more general than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instance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The relation between instances and classes is quite simple: we have one class of a given type and an unlimited number of instances of a given class.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A91701-CC2B-4349-2576-F4B48D02E687}"/>
              </a:ext>
            </a:extLst>
          </p:cNvPr>
          <p:cNvSpPr/>
          <p:nvPr/>
        </p:nvSpPr>
        <p:spPr>
          <a:xfrm>
            <a:off x="4250988" y="0"/>
            <a:ext cx="4299626" cy="16828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An 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attribute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 is a capacious term that can refer to two major kinds of class traits:</a:t>
            </a: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variables, containing information about the class itself or a class instance; classes and class instances can own many variables;</a:t>
            </a:r>
          </a:p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methods, formulated as Python functions; they represent a behavior that could be applied to the object.</a:t>
            </a:r>
          </a:p>
          <a:p>
            <a:pPr algn="ctr"/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A563B7-15F9-DD14-CD93-E9D7801E2A6D}"/>
              </a:ext>
            </a:extLst>
          </p:cNvPr>
          <p:cNvSpPr/>
          <p:nvPr/>
        </p:nvSpPr>
        <p:spPr>
          <a:xfrm>
            <a:off x="880353" y="4045085"/>
            <a:ext cx="2065506" cy="1391056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getattr</a:t>
            </a:r>
            <a:r>
              <a:rPr lang="en-IN" dirty="0"/>
              <a:t>() and </a:t>
            </a:r>
            <a:r>
              <a:rPr lang="en-IN" dirty="0" err="1"/>
              <a:t>setattr</a:t>
            </a:r>
            <a:r>
              <a:rPr lang="en-IN" dirty="0"/>
              <a:t>()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10F9EB-37C7-D37E-17BA-6B763DFBAE39}"/>
              </a:ext>
            </a:extLst>
          </p:cNvPr>
          <p:cNvSpPr/>
          <p:nvPr/>
        </p:nvSpPr>
        <p:spPr>
          <a:xfrm>
            <a:off x="5428034" y="1682885"/>
            <a:ext cx="2065506" cy="1391056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attributes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7EB5F0-D44D-5C6B-A9F6-338395EFA340}"/>
              </a:ext>
            </a:extLst>
          </p:cNvPr>
          <p:cNvSpPr/>
          <p:nvPr/>
        </p:nvSpPr>
        <p:spPr>
          <a:xfrm>
            <a:off x="402166" y="1650861"/>
            <a:ext cx="3253902" cy="1391056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Type</a:t>
            </a:r>
          </a:p>
          <a:p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it is the foremost type that any class can be inherited from;</a:t>
            </a:r>
          </a:p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as a result, if you’re looking for the type of class, then type is returned.</a:t>
            </a:r>
          </a:p>
          <a:p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</a:rPr>
              <a:t>Information about an object’s class is contained in __class__.</a:t>
            </a:r>
          </a:p>
          <a:p>
            <a:pPr algn="ctr"/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8BF139-D979-D9F6-1408-BD3891A8B232}"/>
              </a:ext>
            </a:extLst>
          </p:cNvPr>
          <p:cNvSpPr/>
          <p:nvPr/>
        </p:nvSpPr>
        <p:spPr>
          <a:xfrm>
            <a:off x="5175925" y="4414128"/>
            <a:ext cx="1381328" cy="685396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Class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067E33-8C0B-A086-39CA-B4204095964D}"/>
              </a:ext>
            </a:extLst>
          </p:cNvPr>
          <p:cNvSpPr/>
          <p:nvPr/>
        </p:nvSpPr>
        <p:spPr>
          <a:xfrm>
            <a:off x="6068880" y="5446677"/>
            <a:ext cx="2808861" cy="139105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latin typeface="Cambria" panose="02040503050406030204" pitchFamily="18" charset="0"/>
                <a:ea typeface="Cambria" panose="02040503050406030204" pitchFamily="18" charset="0"/>
              </a:rPr>
              <a:t>Instance Variable</a:t>
            </a:r>
          </a:p>
          <a:p>
            <a:pPr algn="ctr"/>
            <a:endParaRPr lang="en-IN" sz="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900" dirty="0">
                <a:latin typeface="Cambria" panose="02040503050406030204" pitchFamily="18" charset="0"/>
                <a:ea typeface="Cambria" panose="02040503050406030204" pitchFamily="18" charset="0"/>
              </a:rPr>
              <a:t>This kind of variable exists when and only when it is explicitly created and added to an object. This can be done during the object's initialization, performed by the __</a:t>
            </a:r>
            <a:r>
              <a:rPr lang="en-US" sz="900" dirty="0" err="1">
                <a:latin typeface="Cambria" panose="02040503050406030204" pitchFamily="18" charset="0"/>
                <a:ea typeface="Cambria" panose="02040503050406030204" pitchFamily="18" charset="0"/>
              </a:rPr>
              <a:t>init</a:t>
            </a:r>
            <a:r>
              <a:rPr lang="en-US" sz="900" dirty="0">
                <a:latin typeface="Cambria" panose="02040503050406030204" pitchFamily="18" charset="0"/>
                <a:ea typeface="Cambria" panose="02040503050406030204" pitchFamily="18" charset="0"/>
              </a:rPr>
              <a:t>__ method, or later at any moment of the object's life</a:t>
            </a:r>
            <a:endParaRPr lang="en-IN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172CC4-62D0-621F-2FA1-3BCB8078089D}"/>
              </a:ext>
            </a:extLst>
          </p:cNvPr>
          <p:cNvSpPr/>
          <p:nvPr/>
        </p:nvSpPr>
        <p:spPr>
          <a:xfrm>
            <a:off x="6829431" y="2996119"/>
            <a:ext cx="2230066" cy="171693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latin typeface="Cambria" panose="02040503050406030204" pitchFamily="18" charset="0"/>
                <a:ea typeface="Cambria" panose="02040503050406030204" pitchFamily="18" charset="0"/>
              </a:rPr>
              <a:t>Class Variable</a:t>
            </a:r>
          </a:p>
          <a:p>
            <a:pPr algn="ctr"/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Class variables are defined within the class construction, so these variables are available before any class instance is created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B491A03F-7560-D0E3-9901-3FBB4A39CC95}"/>
              </a:ext>
            </a:extLst>
          </p:cNvPr>
          <p:cNvCxnSpPr>
            <a:stCxn id="4" idx="5"/>
            <a:endCxn id="11" idx="1"/>
          </p:cNvCxnSpPr>
          <p:nvPr/>
        </p:nvCxnSpPr>
        <p:spPr>
          <a:xfrm rot="5400000" flipH="1" flipV="1">
            <a:off x="4995071" y="4174421"/>
            <a:ext cx="43064" cy="723225"/>
          </a:xfrm>
          <a:prstGeom prst="curvedConnector5">
            <a:avLst>
              <a:gd name="adj1" fmla="val -530838"/>
              <a:gd name="adj2" fmla="val 49311"/>
              <a:gd name="adj3" fmla="val 63083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4F83587-8D3E-9F19-507C-BF1454F7D11B}"/>
              </a:ext>
            </a:extLst>
          </p:cNvPr>
          <p:cNvCxnSpPr>
            <a:cxnSpLocks/>
            <a:stCxn id="11" idx="5"/>
            <a:endCxn id="12" idx="0"/>
          </p:cNvCxnSpPr>
          <p:nvPr/>
        </p:nvCxnSpPr>
        <p:spPr>
          <a:xfrm rot="16200000" flipH="1">
            <a:off x="6690373" y="4663738"/>
            <a:ext cx="447527" cy="111834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E5D93379-C19E-A3E4-3A80-BE93E0EDBAF2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6557253" y="4195413"/>
            <a:ext cx="272178" cy="561413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B41B5448-3116-9235-466B-0164E4FC950D}"/>
              </a:ext>
            </a:extLst>
          </p:cNvPr>
          <p:cNvSpPr/>
          <p:nvPr/>
        </p:nvSpPr>
        <p:spPr>
          <a:xfrm>
            <a:off x="2827580" y="5417898"/>
            <a:ext cx="2065506" cy="1391056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“dunder” for double underscores</a:t>
            </a:r>
            <a:endParaRPr lang="en-I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42CB1CF6-2F75-3398-9A71-9A2704211204}"/>
              </a:ext>
            </a:extLst>
          </p:cNvPr>
          <p:cNvCxnSpPr>
            <a:cxnSpLocks/>
            <a:stCxn id="10" idx="5"/>
            <a:endCxn id="4" idx="1"/>
          </p:cNvCxnSpPr>
          <p:nvPr/>
        </p:nvCxnSpPr>
        <p:spPr>
          <a:xfrm rot="16200000" flipH="1">
            <a:off x="3085100" y="2932646"/>
            <a:ext cx="735738" cy="54684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FB64D211-1AF2-04E1-21FA-93BDB9C20A8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0800000">
            <a:off x="1913107" y="4045085"/>
            <a:ext cx="1620969" cy="20668"/>
          </a:xfrm>
          <a:prstGeom prst="curvedConnector4">
            <a:avLst>
              <a:gd name="adj1" fmla="val 18144"/>
              <a:gd name="adj2" fmla="val 1206058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575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b271700-93d0-44eb-b238-b2b52be4674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0E48EE09D2AE4BB9DBF4E39ADAACE5" ma:contentTypeVersion="15" ma:contentTypeDescription="Create a new document." ma:contentTypeScope="" ma:versionID="9134c56c5777d6191a91f624bd19d03d">
  <xsd:schema xmlns:xsd="http://www.w3.org/2001/XMLSchema" xmlns:xs="http://www.w3.org/2001/XMLSchema" xmlns:p="http://schemas.microsoft.com/office/2006/metadata/properties" xmlns:ns3="9b271700-93d0-44eb-b238-b2b52be4674c" xmlns:ns4="069c1da8-e5a8-4b93-97bc-269c2ceb44c2" targetNamespace="http://schemas.microsoft.com/office/2006/metadata/properties" ma:root="true" ma:fieldsID="23f3ad7837abb8443a1a0a942e930d1c" ns3:_="" ns4:_="">
    <xsd:import namespace="9b271700-93d0-44eb-b238-b2b52be4674c"/>
    <xsd:import namespace="069c1da8-e5a8-4b93-97bc-269c2ceb44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271700-93d0-44eb-b238-b2b52be46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9c1da8-e5a8-4b93-97bc-269c2ceb44c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42FA76-9475-49CF-9B33-6F6C6F347E6C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69c1da8-e5a8-4b93-97bc-269c2ceb44c2"/>
    <ds:schemaRef ds:uri="9b271700-93d0-44eb-b238-b2b52be4674c"/>
  </ds:schemaRefs>
</ds:datastoreItem>
</file>

<file path=customXml/itemProps2.xml><?xml version="1.0" encoding="utf-8"?>
<ds:datastoreItem xmlns:ds="http://schemas.openxmlformats.org/officeDocument/2006/customXml" ds:itemID="{E2E02B00-6910-40B2-BB76-99FBBB12B4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271700-93d0-44eb-b238-b2b52be4674c"/>
    <ds:schemaRef ds:uri="069c1da8-e5a8-4b93-97bc-269c2ceb44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6BCAF8-1743-4212-AB85-0D6FBFA44B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1366</Words>
  <Application>Microsoft Office PowerPoint</Application>
  <PresentationFormat>Widescreen</PresentationFormat>
  <Paragraphs>208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Bodoni MT</vt:lpstr>
      <vt:lpstr>Bodoni MT Black</vt:lpstr>
      <vt:lpstr>Bodoni MT Condensed</vt:lpstr>
      <vt:lpstr>Cambria</vt:lpstr>
      <vt:lpstr>Office Theme</vt:lpstr>
      <vt:lpstr>PowerPoint Presentation</vt:lpstr>
      <vt:lpstr>PCPP1</vt:lpstr>
      <vt:lpstr>OOPS</vt:lpstr>
      <vt:lpstr>PowerPoint Presentation</vt:lpstr>
      <vt:lpstr>Object Persistence</vt:lpstr>
      <vt:lpstr>Serialization of Python objects using the pickle module </vt:lpstr>
      <vt:lpstr>Metaprogramming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P Mathew</dc:creator>
  <cp:lastModifiedBy>Martin P Mathew</cp:lastModifiedBy>
  <cp:revision>16</cp:revision>
  <dcterms:created xsi:type="dcterms:W3CDTF">2025-09-10T06:02:36Z</dcterms:created>
  <dcterms:modified xsi:type="dcterms:W3CDTF">2026-02-04T08:52:34Z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2025-09-10T06:02:55Z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f0c5f956-aa34-4543-b13c-426a3d8a17b8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  <property fmtid="{D5CDD505-2E9C-101B-9397-08002B2CF9AE}" pid="10" name="ContentTypeId">
    <vt:lpwstr>0x0101006F0E48EE09D2AE4BB9DBF4E39ADAACE5</vt:lpwstr>
  </property>
</Properties>
</file>